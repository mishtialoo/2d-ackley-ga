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5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as a population-based search for a known test-function minimum. The screenshot is the actual project frontend in light mode. The deck follows the default seed-42 run. No presenter or institution name was supplied, so none has been invented.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Agenda. Icons are from the supplied icons directory; each has its concept name and description beneath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simple GA definition: evolve a collection of answers using biased reproduction and random variation. Real-valued chromosomes hold the two coordinates directly. The objective is minimized. General background: Holland, Adaptation in Natural and Artificial Systems, MIT Press, 1992 edition. https://doi.org/10.7551/mitpress/1090.001.0001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implementation uses a=20, b=0.2, c=2π with a restricted domain [-5,5]^2. The commonly cited benchmark domain is larger; the project deliberately uses this smaller search square. The optimum remains (0,0). Source: ga_ackley.py, CONFIG and ackley; Surjanovic and Bingham, SFU, https://www.sfu.ca/~ssurjano/ackley.html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Defaults: n_genes=2; bounds=-5,+5; N=50; Pc=.8 per pair; Pm=.05 per gene; elite_count=1; gaussian sigma=1; seed=42. Operators are also part of the assignment specification. These are practical baseline choices, not experimentally established global best settings. Expected mutated genes per generation = 50×2×.05 =5; actual count varies. Expected crossover pairs=25×.8=20. Stopping parameters appear on slide 11.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experiment generated by presentation/build_data.py with the existing run_ga function. Each setting uses seeds 42 through 61, max_generations=100 and stagnation_limit=30; all other settings remain baseline. Nine configurations (180 runs) are stored in summary.json; six representative rows shown. Median and worst final best objective are reported because sigma=.1 has a good median but a heavy poor-run tail (mean .64875, max2.58022). This does not establish statistical superiority, and the 100-individual comparison is not an equal-evaluation-budget study. Baseline remains unchanged for the walkthrough. Data: presentation/data/summary.json.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create_individual and create_population in ga_ackley.py. Real-valued encoding is direct: no binary decoding and no discretization step. Uniform independent draws are unbiased over the bounded search square, though finite samples do not guarantee every area is covered. Initialization and real encoding follow the project specification.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Toy example is explicitly separate from the real-run walkthrough: f=[2,4,8], worst=8, fitness=[6,4,0], probabilities=[.6,.4,0]. The baseline uses fitness-proportionate roulette with replacement to fill a pool of N=50. The highest objective has zero fitness; if all objectives tie and total fitness is zero, the implementation falls back to uniform random indices. Tournament selection is an available alternative but is not used in the baseline. Source: objective_to_fitness, roulette_wheel_selection in ga_ackley.py.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assignment specifies 1-point crossover. With two coordinates, child1=[A.x1,B.x2] and child2=[B.x1,A.x2]. One random number is drawn per pair; if it exceeds Pc the parents are copied. Crossover therefore recombines existing coordinate values but does not synthesize intermediate real values; arithmetic crossover is an available alternative in the code. Source: one_point_crossover and do_crossover, ga_ackley.py.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Gaussian parameter is standard deviation sigma. The mathematical notation Normal(0,sigma²) uses variance as its second parameter; random.gauss(0,sigma) uses standard deviation. Every gene gets an independent Bernoulli mutation decision. Bounds handling resamples a fresh coordinate uniformly if the proposed value leaves [-5,5]. This avoids invalid chromosomes and boundary pile-up caused by clipping, but an out-of-bounds mutation becomes a global jump. Source: mutate_population, mutate_gene, repair_gene in ga_ackley.py.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get_elites, apply_elitism and run_ga in ga_ackley.py; GAEngine evaluate and commit stages. Elitism protects the best objective from worsening, though an elite need not be inserted if all children are at least as good. Max_generations=100 is the hard run budget. Stagnation resets only when best-ever improvement is greater than 1e-12; smaller improvements are still recorded but count as stagnant. The success verdict f&lt;1e-3 is checked in the reporting function, not used as a stopping condition. The returned history evaluates each generation at loop entry; a final post-commit population is not an extra history point.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Conceptual flow matches the implementation sequence. At evaluation, compute objectives, histories, fitness and elites, then test stagnation. The web engine checks generation budget at commit. When continuing, commit makes offspring the next population and evaluation begins again. Initialization occurs before generation1. The next seven slides expand these steps with authentic frontend panels; the frontend itself numbers six stages after initialization.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initial population contains 50 two-gene chromosomes drawn uniformly. The captured map is after the initial evaluation so the frontend can highlight the best and worst; point positions are exactly the initialized population. No breeding has yet occurred.</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Generation1 has best objective5.447494814976, mean9.979817006302 and worst13.477089228593. Individual #17 has fitness8.029594413617. Total fitness174.863611114545 gives #17 a draw probability of approximately4.592%. The bars in this inspector are scaled to the largest displayed fitness for visualization; use normalized total fitness for true roulette probability.</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 generation1 roulette draws: spin2.0076129562 picks#1; spin126.0280199424 picks#35; spin119.2063368622 picks#32; spin93.8965710367 picks#25. Sampling uses replacement. Most picked#37 appears4 times. The fitness tape and full pool are genuine frontend content. Some rows of the frequency summary are hidden solely to make a readable excerpt.</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Pair2 is selected for a simple illustration of one-point crossover. ParentA#32=[3.428519201898096,2.759999115462448]; ParentB#25=[-1.2981903288311738,-2.904929692285123]. Roll=.6498780576394535. Child2=[3.428519201898096,-2.904929692285123], child3=[-1.2981903288311738,2.759999115462448]. These exact values are from generation1, not invented toy numbers.</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Generation1 mutates child5 gene0, child8 gene1, child23 gene1, child29 gene1 and child48 gene0. Child5 roll=.0147578565, Gaussian delta1.39448230997, old.569497437746 -&gt; new1.963979747715. None of the five proposals requires bounds repair. The UI excerpt shows children5,8,23; the three shown rows are not the complete mutation list.</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 event: elite[-1.214656227916465,.5204063127322698],f5.447494814976 replaces child47=[3.763676264726689,4.36654587712494],f13.120508066058. Other children may already be better than the elite; elitism is preservation, not a requirement to make the previous elite the next best.</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Commit after generation1 changes population to the offspring. Best goes from5.447494814976 to2.980182401782 at [.8458599022354054,.09526293676464537]. The frontend reports the new best at commit, but its convergence history appends that value when generation2 is evaluated. This accounts for generation labels across screenshot panels.</a:t>
            </a:r>
          </a:p>
          <a:p>
            <a:r>
              <a:t>Source: ga_ackley.py; ga-web/engine.py; presentation/data/run.json. UI row identifiers are zero-based. Captures use the actual light-theme frontend with larger presentation text and selected rows where labelled.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embedded GIF uses actual frontend screenshots at evaluated generations1,2,5,10,17,30,47,67,77,100. It is a time-lapse, not every generation and not real elapsed time. The image animates in desktop PowerPoint Slide Show and loops; PDF exports show a static frame. The original GIF is provided in presentation/assets/evolution.gif.</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History values are from the evaluated population at the start of each generation. Roughly49.96% of the total absolute best-value improvement occurs from generation1 to generation5. Later gains matter: the objective moves below1 at generation9 and reaches.0116950928353 at generation77. From generation47 through76 best remains .100666379838; the improvement at generation77 arrives just before 30 stagnant generations would trigger a stop. With one elite the best curve is nonincreasing. The orange mean oscillates because the population contains new, sometimes poor offspring. Log scale makes later improvements visible; it does not cause the spikes.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stage decomposition: mean of generation66=.23126789337595507. After selection and crossover in generation66 the children have mean.17400936886974133. Eight genes mutate, taking the mean to.7876932534951682. Elitism replaces worst child31,f5.67681516268388 by elite f.10066637983769455, reducing mean to.6761702778382442. That is the generation67 history average. Net jump=.44490238446228914, the largest one-generation upward average jump in this run. Best remains .10066637983769455 at all three offspring stages. This is a directly measured explanation, not a generic assumption that all spikes are caused by mutation. Data: run.json, generations[65].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best chromosome[.003972697250467887,.00031705775953021903]; best objective .011695092835325216; Euclidean distance .003985329229405449.100 evaluated generations; stop reason generation limit reached; stagnation23. Percent reduction from initial best =100×(5.447494814975997-.011695092835325216)/5.447494814975997 =99.7853%. The objective is above the project reporting threshold1e-3. Therefore this is a near-origin solution, not exact convergence to zero. Command-line and web histories match.</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Interpretation grounded in code and trace, not proof of a unique cause: one-point crossover creates no new coordinate values; mutation sigma remains1, about251 times the final Euclidean distance .003985; a narrow improvement near zero therefore requires a fortunate small perturbation. The best improves at generation77, and the remaining23 evaluated generations show no further progress before the100 cap. An adaptive mutation sigma is proposed future work; it is not implemented in this project. Tuning showed that a small constant sigma can have poor outliers, motivating a schedule rather than claiming that a universally small sigma is best.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talk with the measured result and three ideas: biased selection, stochastic exploration with elite preservation, and evidence-based tuning. The frontend makes each stochastic operator visible and matches the original Python run. No claim of exact optimum or universally best settings is made.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references:</a:t>
            </a:r>
          </a:p>
          <a:p>
            <a:r>
              <a:t>1. Local project README.md and ga_ackley.py. Web visualizer: ga-web/engine.py, server.py, static/index.html, static/js/stages.js, landscape.js, chart.js.</a:t>
            </a:r>
          </a:p>
          <a:p>
            <a:r>
              <a:t>2. Surjanovic, S. and Bingham, D. Virtual Library of Simulation Experiments: Test Functions and Datasets, Ackley Function. https://www.sfu.ca/~ssurjano/ackley.html</a:t>
            </a:r>
          </a:p>
          <a:p>
            <a:r>
              <a:t>3. Holland, John H. Adaptation in Natural and Artificial Systems: An Introductory Analysis with Applications to Biology, Control, and Artificial Intelligence. MIT Press,1992 edition. https://doi.org/10.7551/mitpress/1090.001.0001</a:t>
            </a:r>
          </a:p>
          <a:p>
            <a:r>
              <a:t>4. ByteDance IconPark. https://github.com/bytedance/IconPark . Apache2.0. The supplied icons/README.md identifies the custom DNA and random-initialization drawings.</a:t>
            </a:r>
          </a:p>
          <a:p>
            <a:r>
              <a:t>5. presentation/build_data.py generated180 runs using20 seeds42–61 for9 configurations. All measured results in presentation/data/summary.json; full walkthrough trace in run.json. verify_parity.py:14/14 exact matches. Sources accessed12 September2026.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26.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www.sfu.ca/~ssurjano/ackley.html"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hyperlink" Target="https://github.com/bytedance/IconPark" TargetMode="External"/><Relationship Id="rId4" Type="http://schemas.openxmlformats.org/officeDocument/2006/relationships/hyperlink" Target="https://doi.org/10.7551/mitpress/1090.001.00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PROJECT PRESENTATION</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Searching for the minimum</a:t>
            </a:r>
          </a:p>
        </p:txBody>
      </p:sp>
      <p:cxnSp>
        <p:nvCxnSpPr>
          <p:cNvPr id="5" name="Connector 4"/>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7" name="TextBox 6"/>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8" name="TextBox 7"/>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01</a:t>
            </a:r>
          </a:p>
        </p:txBody>
      </p:sp>
      <p:sp>
        <p:nvSpPr>
          <p:cNvPr id="9" name="TextBox 8"/>
          <p:cNvSpPr txBox="1"/>
          <p:nvPr/>
        </p:nvSpPr>
        <p:spPr>
          <a:xfrm>
            <a:off x="640080" y="2057400"/>
            <a:ext cx="6126480" cy="1737360"/>
          </a:xfrm>
          <a:prstGeom prst="rect">
            <a:avLst/>
          </a:prstGeom>
          <a:noFill/>
        </p:spPr>
        <p:txBody>
          <a:bodyPr wrap="square" lIns="0" tIns="0" rIns="0" bIns="0">
            <a:spAutoFit/>
          </a:bodyPr>
          <a:lstStyle/>
          <a:p>
            <a:pPr>
              <a:spcBef>
                <a:spcPts val="0"/>
              </a:spcBef>
              <a:spcAft>
                <a:spcPts val="400"/>
              </a:spcAft>
              <a:defRPr sz="3900" b="1">
                <a:solidFill>
                  <a:srgbClr val="18343B"/>
                </a:solidFill>
                <a:latin typeface="Aptos Display"/>
              </a:defRPr>
            </a:pPr>
            <a:r>
              <a:t>A genetic algorithm</a:t>
            </a:r>
          </a:p>
          <a:p>
            <a:pPr>
              <a:spcBef>
                <a:spcPts val="0"/>
              </a:spcBef>
              <a:spcAft>
                <a:spcPts val="400"/>
              </a:spcAft>
              <a:defRPr sz="3900" b="1">
                <a:solidFill>
                  <a:srgbClr val="18343B"/>
                </a:solidFill>
                <a:latin typeface="Aptos Display"/>
              </a:defRPr>
            </a:pPr>
            <a:r>
              <a:t>for the 2D Ackley function</a:t>
            </a:r>
          </a:p>
        </p:txBody>
      </p:sp>
      <p:sp>
        <p:nvSpPr>
          <p:cNvPr id="10" name="TextBox 9"/>
          <p:cNvSpPr txBox="1"/>
          <p:nvPr/>
        </p:nvSpPr>
        <p:spPr>
          <a:xfrm>
            <a:off x="658368" y="4069080"/>
            <a:ext cx="5486400" cy="1097280"/>
          </a:xfrm>
          <a:prstGeom prst="rect">
            <a:avLst/>
          </a:prstGeom>
          <a:noFill/>
        </p:spPr>
        <p:txBody>
          <a:bodyPr wrap="square" lIns="0" tIns="0" rIns="0" bIns="0">
            <a:spAutoFit/>
          </a:bodyPr>
          <a:lstStyle/>
          <a:p>
            <a:pPr>
              <a:spcBef>
                <a:spcPts val="0"/>
              </a:spcBef>
              <a:spcAft>
                <a:spcPts val="400"/>
              </a:spcAft>
              <a:defRPr sz="2600" b="0">
                <a:solidFill>
                  <a:srgbClr val="596B70"/>
                </a:solidFill>
                <a:latin typeface="Aptos"/>
              </a:defRPr>
            </a:pPr>
            <a:r>
              <a:t>From random points to a solution</a:t>
            </a:r>
          </a:p>
          <a:p>
            <a:pPr>
              <a:spcBef>
                <a:spcPts val="0"/>
              </a:spcBef>
              <a:spcAft>
                <a:spcPts val="400"/>
              </a:spcAft>
              <a:defRPr sz="2600" b="0">
                <a:solidFill>
                  <a:srgbClr val="596B70"/>
                </a:solidFill>
                <a:latin typeface="Aptos"/>
              </a:defRPr>
            </a:pPr>
            <a:r>
              <a:t>near (0, 0).</a:t>
            </a:r>
          </a:p>
        </p:txBody>
      </p:sp>
      <p:sp>
        <p:nvSpPr>
          <p:cNvPr id="11" name="Rounded Rectangle 10"/>
          <p:cNvSpPr/>
          <p:nvPr/>
        </p:nvSpPr>
        <p:spPr>
          <a:xfrm>
            <a:off x="658368" y="5486400"/>
            <a:ext cx="3657600" cy="384048"/>
          </a:xfrm>
          <a:prstGeom prst="roundRect">
            <a:avLst>
              <a:gd name="adj" fmla="val 20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545836"/>
            <a:ext cx="347472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PYTHON + WEB VISUALIZER</a:t>
            </a:r>
          </a:p>
        </p:txBody>
      </p:sp>
      <p:sp>
        <p:nvSpPr>
          <p:cNvPr id="13" name="TextBox 12"/>
          <p:cNvSpPr txBox="1"/>
          <p:nvPr/>
        </p:nvSpPr>
        <p:spPr>
          <a:xfrm>
            <a:off x="658368" y="6080760"/>
            <a:ext cx="5669280" cy="45720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A visual, reproducible walkthrough</a:t>
            </a:r>
          </a:p>
        </p:txBody>
      </p:sp>
      <p:pic>
        <p:nvPicPr>
          <p:cNvPr id="14" name="Figure: Ackley landscape" descr="landscape_3d.png"/>
          <p:cNvPicPr>
            <a:picLocks noChangeAspect="1"/>
          </p:cNvPicPr>
          <p:nvPr/>
        </p:nvPicPr>
        <p:blipFill>
          <a:blip r:embed="rId3"/>
          <a:stretch>
            <a:fillRect/>
          </a:stretch>
        </p:blipFill>
        <p:spPr>
          <a:xfrm>
            <a:off x="6492240" y="2220310"/>
            <a:ext cx="7543800" cy="4712523"/>
          </a:xfrm>
          <a:prstGeom prst="rect">
            <a:avLst/>
          </a:prstGeom>
        </p:spPr>
      </p:pic>
      <p:sp>
        <p:nvSpPr>
          <p:cNvPr id="15" name="TextBox 14"/>
          <p:cNvSpPr txBox="1"/>
          <p:nvPr/>
        </p:nvSpPr>
        <p:spPr>
          <a:xfrm>
            <a:off x="6492240" y="7251192"/>
            <a:ext cx="754380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01 — Ackley landscape. White-mode frontend; the central basin contains the known optimum.</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CONTENTS</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The route through the project</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Problem → design choices → a real run → evidence</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02</a:t>
            </a:r>
          </a:p>
        </p:txBody>
      </p:sp>
      <p:sp>
        <p:nvSpPr>
          <p:cNvPr id="10" name="Rounded Rectangle 9"/>
          <p:cNvSpPr/>
          <p:nvPr/>
        </p:nvSpPr>
        <p:spPr>
          <a:xfrm>
            <a:off x="594360" y="21945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global-minimum-target" descr="icon_global-minimum-targe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395728"/>
            <a:ext cx="594360" cy="594360"/>
          </a:xfrm>
          <a:prstGeom prst="rect">
            <a:avLst/>
          </a:prstGeom>
        </p:spPr>
      </p:pic>
      <p:sp>
        <p:nvSpPr>
          <p:cNvPr id="12" name="TextBox 11"/>
          <p:cNvSpPr txBox="1"/>
          <p:nvPr/>
        </p:nvSpPr>
        <p:spPr>
          <a:xfrm>
            <a:off x="804672" y="31089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01  The problem</a:t>
            </a:r>
          </a:p>
        </p:txBody>
      </p:sp>
      <p:sp>
        <p:nvSpPr>
          <p:cNvPr id="13" name="TextBox 12"/>
          <p:cNvSpPr txBox="1"/>
          <p:nvPr/>
        </p:nvSpPr>
        <p:spPr>
          <a:xfrm>
            <a:off x="804672" y="3557015"/>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GA basics and the Ackley landscape</a:t>
            </a:r>
          </a:p>
        </p:txBody>
      </p:sp>
      <p:sp>
        <p:nvSpPr>
          <p:cNvPr id="14" name="Rounded Rectangle 13"/>
          <p:cNvSpPr/>
          <p:nvPr/>
        </p:nvSpPr>
        <p:spPr>
          <a:xfrm>
            <a:off x="5166360" y="21945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parameter-controls" descr="icon_parameter-controls.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76672" y="2395728"/>
            <a:ext cx="594360" cy="594360"/>
          </a:xfrm>
          <a:prstGeom prst="rect">
            <a:avLst/>
          </a:prstGeom>
        </p:spPr>
      </p:pic>
      <p:sp>
        <p:nvSpPr>
          <p:cNvPr id="16" name="TextBox 15"/>
          <p:cNvSpPr txBox="1"/>
          <p:nvPr/>
        </p:nvSpPr>
        <p:spPr>
          <a:xfrm>
            <a:off x="5376672" y="31089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02  The settings</a:t>
            </a:r>
          </a:p>
        </p:txBody>
      </p:sp>
      <p:sp>
        <p:nvSpPr>
          <p:cNvPr id="17" name="TextBox 16"/>
          <p:cNvSpPr txBox="1"/>
          <p:nvPr/>
        </p:nvSpPr>
        <p:spPr>
          <a:xfrm>
            <a:off x="5376672" y="3557015"/>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Parameters and a tuning experiment</a:t>
            </a:r>
          </a:p>
        </p:txBody>
      </p:sp>
      <p:sp>
        <p:nvSpPr>
          <p:cNvPr id="18" name="Rounded Rectangle 17"/>
          <p:cNvSpPr/>
          <p:nvPr/>
        </p:nvSpPr>
        <p:spPr>
          <a:xfrm>
            <a:off x="9738360" y="21945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chromosome-dna" descr="icon_chromosome-dna.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48672" y="2395728"/>
            <a:ext cx="594360" cy="594360"/>
          </a:xfrm>
          <a:prstGeom prst="rect">
            <a:avLst/>
          </a:prstGeom>
        </p:spPr>
      </p:pic>
      <p:sp>
        <p:nvSpPr>
          <p:cNvPr id="20" name="TextBox 19"/>
          <p:cNvSpPr txBox="1"/>
          <p:nvPr/>
        </p:nvSpPr>
        <p:spPr>
          <a:xfrm>
            <a:off x="9948672" y="31089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03  The methods</a:t>
            </a:r>
          </a:p>
        </p:txBody>
      </p:sp>
      <p:sp>
        <p:nvSpPr>
          <p:cNvPr id="21" name="TextBox 20"/>
          <p:cNvSpPr txBox="1"/>
          <p:nvPr/>
        </p:nvSpPr>
        <p:spPr>
          <a:xfrm>
            <a:off x="9948672" y="3557015"/>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How each operator works—and why</a:t>
            </a:r>
          </a:p>
        </p:txBody>
      </p:sp>
      <p:sp>
        <p:nvSpPr>
          <p:cNvPr id="22" name="Rounded Rectangle 21"/>
          <p:cNvSpPr/>
          <p:nvPr/>
        </p:nvSpPr>
        <p:spPr>
          <a:xfrm>
            <a:off x="594360" y="47091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con: numbered-stages" descr="icon_numbered-stages.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4672" y="4910328"/>
            <a:ext cx="594360" cy="594360"/>
          </a:xfrm>
          <a:prstGeom prst="rect">
            <a:avLst/>
          </a:prstGeom>
        </p:spPr>
      </p:pic>
      <p:sp>
        <p:nvSpPr>
          <p:cNvPr id="24" name="TextBox 23"/>
          <p:cNvSpPr txBox="1"/>
          <p:nvPr/>
        </p:nvSpPr>
        <p:spPr>
          <a:xfrm>
            <a:off x="804672" y="56235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04  The walkthrough</a:t>
            </a:r>
          </a:p>
        </p:txBody>
      </p:sp>
      <p:sp>
        <p:nvSpPr>
          <p:cNvPr id="25" name="TextBox 24"/>
          <p:cNvSpPr txBox="1"/>
          <p:nvPr/>
        </p:nvSpPr>
        <p:spPr>
          <a:xfrm>
            <a:off x="804672" y="6071616"/>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Seven steps in the white frontend</a:t>
            </a:r>
          </a:p>
        </p:txBody>
      </p:sp>
      <p:sp>
        <p:nvSpPr>
          <p:cNvPr id="26" name="Rounded Rectangle 25"/>
          <p:cNvSpPr/>
          <p:nvPr/>
        </p:nvSpPr>
        <p:spPr>
          <a:xfrm>
            <a:off x="5166360" y="47091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Icon: convergence-curve" descr="icon_convergence-curv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672" y="4910328"/>
            <a:ext cx="594360" cy="594360"/>
          </a:xfrm>
          <a:prstGeom prst="rect">
            <a:avLst/>
          </a:prstGeom>
        </p:spPr>
      </p:pic>
      <p:sp>
        <p:nvSpPr>
          <p:cNvPr id="28" name="TextBox 27"/>
          <p:cNvSpPr txBox="1"/>
          <p:nvPr/>
        </p:nvSpPr>
        <p:spPr>
          <a:xfrm>
            <a:off x="5376672" y="56235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05  The evidence</a:t>
            </a:r>
          </a:p>
        </p:txBody>
      </p:sp>
      <p:sp>
        <p:nvSpPr>
          <p:cNvPr id="29" name="TextBox 28"/>
          <p:cNvSpPr txBox="1"/>
          <p:nvPr/>
        </p:nvSpPr>
        <p:spPr>
          <a:xfrm>
            <a:off x="5376672" y="6071616"/>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Convergence, spikes, and final result</a:t>
            </a:r>
          </a:p>
        </p:txBody>
      </p:sp>
      <p:sp>
        <p:nvSpPr>
          <p:cNvPr id="30" name="Rounded Rectangle 29"/>
          <p:cNvSpPr/>
          <p:nvPr/>
        </p:nvSpPr>
        <p:spPr>
          <a:xfrm>
            <a:off x="9738360" y="4709160"/>
            <a:ext cx="4297680" cy="22128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Icon: verdict-check" descr="icon_verdict-check.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48672" y="4910328"/>
            <a:ext cx="594360" cy="594360"/>
          </a:xfrm>
          <a:prstGeom prst="rect">
            <a:avLst/>
          </a:prstGeom>
        </p:spPr>
      </p:pic>
      <p:sp>
        <p:nvSpPr>
          <p:cNvPr id="32" name="TextBox 31"/>
          <p:cNvSpPr txBox="1"/>
          <p:nvPr/>
        </p:nvSpPr>
        <p:spPr>
          <a:xfrm>
            <a:off x="9948672" y="562356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06  The takeaway</a:t>
            </a:r>
          </a:p>
        </p:txBody>
      </p:sp>
      <p:sp>
        <p:nvSpPr>
          <p:cNvPr id="33" name="TextBox 32"/>
          <p:cNvSpPr txBox="1"/>
          <p:nvPr/>
        </p:nvSpPr>
        <p:spPr>
          <a:xfrm>
            <a:off x="9948672" y="6071616"/>
            <a:ext cx="3877056" cy="841247"/>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Conclusion and references</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THE IDEA</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GA: improve a population through generations</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A genetic algorithm searches by selecting, combining, and randomly changing candidate solutions.</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03</a:t>
            </a:r>
          </a:p>
        </p:txBody>
      </p:sp>
      <p:sp>
        <p:nvSpPr>
          <p:cNvPr id="10" name="Rounded Rectangle 9"/>
          <p:cNvSpPr/>
          <p:nvPr/>
        </p:nvSpPr>
        <p:spPr>
          <a:xfrm>
            <a:off x="594360" y="2286000"/>
            <a:ext cx="4114800" cy="22860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01-population" descr="icon_01-populatio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487168"/>
            <a:ext cx="594360" cy="594360"/>
          </a:xfrm>
          <a:prstGeom prst="rect">
            <a:avLst/>
          </a:prstGeom>
        </p:spPr>
      </p:pic>
      <p:sp>
        <p:nvSpPr>
          <p:cNvPr id="12" name="TextBox 11"/>
          <p:cNvSpPr txBox="1"/>
          <p:nvPr/>
        </p:nvSpPr>
        <p:spPr>
          <a:xfrm>
            <a:off x="804672" y="3200400"/>
            <a:ext cx="369417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Population</a:t>
            </a:r>
          </a:p>
        </p:txBody>
      </p:sp>
      <p:sp>
        <p:nvSpPr>
          <p:cNvPr id="13" name="TextBox 12"/>
          <p:cNvSpPr txBox="1"/>
          <p:nvPr/>
        </p:nvSpPr>
        <p:spPr>
          <a:xfrm>
            <a:off x="804672" y="3648456"/>
            <a:ext cx="3694176" cy="91440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Several candidate answers at once.</a:t>
            </a:r>
          </a:p>
        </p:txBody>
      </p:sp>
      <p:sp>
        <p:nvSpPr>
          <p:cNvPr id="14" name="Rounded Rectangle 13"/>
          <p:cNvSpPr/>
          <p:nvPr/>
        </p:nvSpPr>
        <p:spPr>
          <a:xfrm>
            <a:off x="5257800" y="2286000"/>
            <a:ext cx="4114800" cy="22860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03-selection-roulette" descr="icon_03-selection-roulett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68112" y="2487168"/>
            <a:ext cx="594360" cy="594360"/>
          </a:xfrm>
          <a:prstGeom prst="rect">
            <a:avLst/>
          </a:prstGeom>
        </p:spPr>
      </p:pic>
      <p:sp>
        <p:nvSpPr>
          <p:cNvPr id="16" name="TextBox 15"/>
          <p:cNvSpPr txBox="1"/>
          <p:nvPr/>
        </p:nvSpPr>
        <p:spPr>
          <a:xfrm>
            <a:off x="5468112" y="3200400"/>
            <a:ext cx="369417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Selection</a:t>
            </a:r>
          </a:p>
        </p:txBody>
      </p:sp>
      <p:sp>
        <p:nvSpPr>
          <p:cNvPr id="17" name="TextBox 16"/>
          <p:cNvSpPr txBox="1"/>
          <p:nvPr/>
        </p:nvSpPr>
        <p:spPr>
          <a:xfrm>
            <a:off x="5468112" y="3648456"/>
            <a:ext cx="3694176" cy="91440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Better candidates get more chances.</a:t>
            </a:r>
          </a:p>
        </p:txBody>
      </p:sp>
      <p:sp>
        <p:nvSpPr>
          <p:cNvPr id="18" name="Rounded Rectangle 17"/>
          <p:cNvSpPr/>
          <p:nvPr/>
        </p:nvSpPr>
        <p:spPr>
          <a:xfrm>
            <a:off x="9921240" y="2286000"/>
            <a:ext cx="4114800" cy="22860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07-new-generation" descr="icon_07-new-generation.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31552" y="2487168"/>
            <a:ext cx="594360" cy="594360"/>
          </a:xfrm>
          <a:prstGeom prst="rect">
            <a:avLst/>
          </a:prstGeom>
        </p:spPr>
      </p:pic>
      <p:sp>
        <p:nvSpPr>
          <p:cNvPr id="20" name="TextBox 19"/>
          <p:cNvSpPr txBox="1"/>
          <p:nvPr/>
        </p:nvSpPr>
        <p:spPr>
          <a:xfrm>
            <a:off x="10131552" y="3200400"/>
            <a:ext cx="369417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Next generation</a:t>
            </a:r>
          </a:p>
        </p:txBody>
      </p:sp>
      <p:sp>
        <p:nvSpPr>
          <p:cNvPr id="21" name="TextBox 20"/>
          <p:cNvSpPr txBox="1"/>
          <p:nvPr/>
        </p:nvSpPr>
        <p:spPr>
          <a:xfrm>
            <a:off x="10131552" y="3648456"/>
            <a:ext cx="3694176" cy="91440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Keep useful changes; repeat.</a:t>
            </a:r>
          </a:p>
        </p:txBody>
      </p:sp>
      <p:cxnSp>
        <p:nvCxnSpPr>
          <p:cNvPr id="22" name="Connector 21"/>
          <p:cNvCxnSpPr/>
          <p:nvPr/>
        </p:nvCxnSpPr>
        <p:spPr>
          <a:xfrm>
            <a:off x="4773168" y="3337560"/>
            <a:ext cx="393192"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36608" y="3337560"/>
            <a:ext cx="393192"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94360" y="5166360"/>
            <a:ext cx="13441680" cy="1517904"/>
          </a:xfrm>
          <a:prstGeom prst="roundRect">
            <a:avLst>
              <a:gd name="adj" fmla="val 5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5413248"/>
            <a:ext cx="2743200" cy="45720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In this project</a:t>
            </a:r>
          </a:p>
        </p:txBody>
      </p:sp>
      <p:sp>
        <p:nvSpPr>
          <p:cNvPr id="26" name="TextBox 25"/>
          <p:cNvSpPr txBox="1"/>
          <p:nvPr/>
        </p:nvSpPr>
        <p:spPr>
          <a:xfrm>
            <a:off x="3657600" y="5440680"/>
            <a:ext cx="9875520" cy="548640"/>
          </a:xfrm>
          <a:prstGeom prst="rect">
            <a:avLst/>
          </a:prstGeom>
          <a:noFill/>
        </p:spPr>
        <p:txBody>
          <a:bodyPr wrap="square" lIns="0" tIns="0" rIns="0" bIns="0">
            <a:spAutoFit/>
          </a:bodyPr>
          <a:lstStyle/>
          <a:p>
            <a:pPr>
              <a:spcBef>
                <a:spcPts val="0"/>
              </a:spcBef>
              <a:spcAft>
                <a:spcPts val="400"/>
              </a:spcAft>
              <a:defRPr sz="2400" b="0">
                <a:solidFill>
                  <a:srgbClr val="18343B"/>
                </a:solidFill>
                <a:latin typeface="Aptos"/>
              </a:defRPr>
            </a:pPr>
            <a:r>
              <a:t>One chromosome = [x₁, x₂]     •     One score = Ackley f(x₁, x₂)</a:t>
            </a:r>
          </a:p>
        </p:txBody>
      </p:sp>
      <p:sp>
        <p:nvSpPr>
          <p:cNvPr id="27" name="TextBox 26"/>
          <p:cNvSpPr txBox="1"/>
          <p:nvPr/>
        </p:nvSpPr>
        <p:spPr>
          <a:xfrm>
            <a:off x="3657600" y="6062472"/>
            <a:ext cx="9875520" cy="411480"/>
          </a:xfrm>
          <a:prstGeom prst="rect">
            <a:avLst/>
          </a:prstGeom>
          <a:noFill/>
        </p:spPr>
        <p:txBody>
          <a:bodyPr wrap="square" lIns="0" tIns="0" rIns="0" bIns="0">
            <a:spAutoFit/>
          </a:bodyPr>
          <a:lstStyle/>
          <a:p>
            <a:pPr>
              <a:spcBef>
                <a:spcPts val="0"/>
              </a:spcBef>
              <a:spcAft>
                <a:spcPts val="400"/>
              </a:spcAft>
              <a:defRPr sz="2100" b="0">
                <a:solidFill>
                  <a:srgbClr val="596B70"/>
                </a:solidFill>
                <a:latin typeface="Aptos"/>
              </a:defRPr>
            </a:pPr>
            <a:r>
              <a:t>Lower objective values are better.</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PROBLEM STATEMENT</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The problem: find the bottom of a rippled basin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Minimize Ackley over x₁, x₂ ∈ [−5, 5]. The known global minimum is f(0, 0) = 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04</a:t>
            </a:r>
          </a:p>
        </p:txBody>
      </p:sp>
      <p:pic>
        <p:nvPicPr>
          <p:cNvPr id="10" name="Figure: Search landscape" descr="landscape_3d.png"/>
          <p:cNvPicPr>
            <a:picLocks noChangeAspect="1"/>
          </p:cNvPicPr>
          <p:nvPr/>
        </p:nvPicPr>
        <p:blipFill>
          <a:blip r:embed="rId3"/>
          <a:stretch>
            <a:fillRect/>
          </a:stretch>
        </p:blipFill>
        <p:spPr>
          <a:xfrm>
            <a:off x="657318" y="2103120"/>
            <a:ext cx="7875082" cy="4919472"/>
          </a:xfrm>
          <a:prstGeom prst="rect">
            <a:avLst/>
          </a:prstGeom>
        </p:spPr>
      </p:pic>
      <p:sp>
        <p:nvSpPr>
          <p:cNvPr id="11" name="TextBox 10"/>
          <p:cNvSpPr txBox="1"/>
          <p:nvPr/>
        </p:nvSpPr>
        <p:spPr>
          <a:xfrm>
            <a:off x="594360" y="7114031"/>
            <a:ext cx="800100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02 — Search landscape. White-mode 3D view; many local basins surround the origin.</a:t>
            </a:r>
          </a:p>
        </p:txBody>
      </p:sp>
      <p:sp>
        <p:nvSpPr>
          <p:cNvPr id="12" name="TextBox 11"/>
          <p:cNvSpPr txBox="1"/>
          <p:nvPr/>
        </p:nvSpPr>
        <p:spPr>
          <a:xfrm>
            <a:off x="9052560" y="2331720"/>
            <a:ext cx="4663440" cy="731520"/>
          </a:xfrm>
          <a:prstGeom prst="rect">
            <a:avLst/>
          </a:prstGeom>
          <a:noFill/>
        </p:spPr>
        <p:txBody>
          <a:bodyPr wrap="square" lIns="0" tIns="0" rIns="0" bIns="0">
            <a:spAutoFit/>
          </a:bodyPr>
          <a:lstStyle/>
          <a:p>
            <a:pPr>
              <a:spcBef>
                <a:spcPts val="0"/>
              </a:spcBef>
              <a:spcAft>
                <a:spcPts val="400"/>
              </a:spcAft>
              <a:defRPr sz="3500" b="1">
                <a:solidFill>
                  <a:srgbClr val="0A7EA4"/>
                </a:solidFill>
                <a:latin typeface="Aptos"/>
              </a:defRPr>
            </a:pPr>
            <a:r>
              <a:t>min f(x₁, x₂)</a:t>
            </a:r>
          </a:p>
        </p:txBody>
      </p:sp>
      <p:sp>
        <p:nvSpPr>
          <p:cNvPr id="13" name="TextBox 12"/>
          <p:cNvSpPr txBox="1"/>
          <p:nvPr/>
        </p:nvSpPr>
        <p:spPr>
          <a:xfrm>
            <a:off x="9052560" y="3172968"/>
            <a:ext cx="4754880" cy="146304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Cambria Math"/>
              </a:defRPr>
            </a:pPr>
            <a:r>
              <a:t>−20 exp[−0.2 √((x₁²+x₂²)/2)]</a:t>
            </a:r>
          </a:p>
          <a:p>
            <a:pPr>
              <a:spcBef>
                <a:spcPts val="0"/>
              </a:spcBef>
              <a:spcAft>
                <a:spcPts val="400"/>
              </a:spcAft>
              <a:defRPr sz="2100" b="0">
                <a:solidFill>
                  <a:srgbClr val="18343B"/>
                </a:solidFill>
                <a:latin typeface="Cambria Math"/>
              </a:defRPr>
            </a:pPr>
            <a:r>
              <a:t>− exp[(cos 2πx₁ + cos 2πx₂)/2]</a:t>
            </a:r>
          </a:p>
          <a:p>
            <a:pPr>
              <a:spcBef>
                <a:spcPts val="0"/>
              </a:spcBef>
              <a:spcAft>
                <a:spcPts val="400"/>
              </a:spcAft>
              <a:defRPr sz="2100" b="0">
                <a:solidFill>
                  <a:srgbClr val="18343B"/>
                </a:solidFill>
                <a:latin typeface="Cambria Math"/>
              </a:defRPr>
            </a:pPr>
            <a:r>
              <a:t>+ 20 + e</a:t>
            </a:r>
          </a:p>
        </p:txBody>
      </p:sp>
      <p:sp>
        <p:nvSpPr>
          <p:cNvPr id="14" name="Rectangle 13"/>
          <p:cNvSpPr/>
          <p:nvPr/>
        </p:nvSpPr>
        <p:spPr>
          <a:xfrm>
            <a:off x="9052560" y="507492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nim_1_title"/>
          <p:cNvSpPr txBox="1"/>
          <p:nvPr/>
        </p:nvSpPr>
        <p:spPr>
          <a:xfrm>
            <a:off x="9235440" y="5074920"/>
            <a:ext cx="457200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Why this is challenging</a:t>
            </a:r>
          </a:p>
        </p:txBody>
      </p:sp>
      <p:sp>
        <p:nvSpPr>
          <p:cNvPr id="16" name="anim_1_body"/>
          <p:cNvSpPr txBox="1"/>
          <p:nvPr/>
        </p:nvSpPr>
        <p:spPr>
          <a:xfrm>
            <a:off x="9235440" y="5550408"/>
            <a:ext cx="457200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Local valleys can trap the search before it reaches the central basin.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GA SETTINGS</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The baseline settings balance search and preservation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These are the project defaults used in every walkthrough and result slide.</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05</a:t>
            </a:r>
          </a:p>
        </p:txBody>
      </p:sp>
      <p:sp>
        <p:nvSpPr>
          <p:cNvPr id="10" name="Rounded Rectangle 9"/>
          <p:cNvSpPr/>
          <p:nvPr/>
        </p:nvSpPr>
        <p:spPr>
          <a:xfrm>
            <a:off x="594360" y="21945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3774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50</a:t>
            </a:r>
          </a:p>
        </p:txBody>
      </p:sp>
      <p:sp>
        <p:nvSpPr>
          <p:cNvPr id="12" name="TextBox 11"/>
          <p:cNvSpPr txBox="1"/>
          <p:nvPr/>
        </p:nvSpPr>
        <p:spPr>
          <a:xfrm>
            <a:off x="822960" y="32095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individuals</a:t>
            </a:r>
          </a:p>
        </p:txBody>
      </p:sp>
      <p:sp>
        <p:nvSpPr>
          <p:cNvPr id="13" name="TextBox 12"/>
          <p:cNvSpPr txBox="1"/>
          <p:nvPr/>
        </p:nvSpPr>
        <p:spPr>
          <a:xfrm>
            <a:off x="822960" y="37764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Variety with a small evaluation budget.</a:t>
            </a:r>
          </a:p>
        </p:txBody>
      </p:sp>
      <p:sp>
        <p:nvSpPr>
          <p:cNvPr id="14" name="Rounded Rectangle 13"/>
          <p:cNvSpPr/>
          <p:nvPr/>
        </p:nvSpPr>
        <p:spPr>
          <a:xfrm>
            <a:off x="5166360" y="21945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94960" y="23774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0.80</a:t>
            </a:r>
          </a:p>
        </p:txBody>
      </p:sp>
      <p:sp>
        <p:nvSpPr>
          <p:cNvPr id="16" name="TextBox 15"/>
          <p:cNvSpPr txBox="1"/>
          <p:nvPr/>
        </p:nvSpPr>
        <p:spPr>
          <a:xfrm>
            <a:off x="5394960" y="32095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crossover / pair</a:t>
            </a:r>
          </a:p>
        </p:txBody>
      </p:sp>
      <p:sp>
        <p:nvSpPr>
          <p:cNvPr id="17" name="TextBox 16"/>
          <p:cNvSpPr txBox="1"/>
          <p:nvPr/>
        </p:nvSpPr>
        <p:spPr>
          <a:xfrm>
            <a:off x="5394960" y="37764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Recombine most pairs; keep some copies.</a:t>
            </a:r>
          </a:p>
        </p:txBody>
      </p:sp>
      <p:sp>
        <p:nvSpPr>
          <p:cNvPr id="18" name="Rounded Rectangle 17"/>
          <p:cNvSpPr/>
          <p:nvPr/>
        </p:nvSpPr>
        <p:spPr>
          <a:xfrm>
            <a:off x="9738360" y="21945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66960" y="23774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0.05</a:t>
            </a:r>
          </a:p>
        </p:txBody>
      </p:sp>
      <p:sp>
        <p:nvSpPr>
          <p:cNvPr id="20" name="TextBox 19"/>
          <p:cNvSpPr txBox="1"/>
          <p:nvPr/>
        </p:nvSpPr>
        <p:spPr>
          <a:xfrm>
            <a:off x="9966960" y="32095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mutation / gene</a:t>
            </a:r>
          </a:p>
        </p:txBody>
      </p:sp>
      <p:sp>
        <p:nvSpPr>
          <p:cNvPr id="21" name="TextBox 20"/>
          <p:cNvSpPr txBox="1"/>
          <p:nvPr/>
        </p:nvSpPr>
        <p:spPr>
          <a:xfrm>
            <a:off x="9966960" y="37764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About 5 changes among 100 genes.</a:t>
            </a:r>
          </a:p>
        </p:txBody>
      </p:sp>
      <p:sp>
        <p:nvSpPr>
          <p:cNvPr id="22" name="Rounded Rectangle 21"/>
          <p:cNvSpPr/>
          <p:nvPr/>
        </p:nvSpPr>
        <p:spPr>
          <a:xfrm>
            <a:off x="594360" y="47091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8920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1.0</a:t>
            </a:r>
          </a:p>
        </p:txBody>
      </p:sp>
      <p:sp>
        <p:nvSpPr>
          <p:cNvPr id="24" name="TextBox 23"/>
          <p:cNvSpPr txBox="1"/>
          <p:nvPr/>
        </p:nvSpPr>
        <p:spPr>
          <a:xfrm>
            <a:off x="822960" y="57241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Gaussian σ</a:t>
            </a:r>
          </a:p>
        </p:txBody>
      </p:sp>
      <p:sp>
        <p:nvSpPr>
          <p:cNvPr id="25" name="TextBox 24"/>
          <p:cNvSpPr txBox="1"/>
          <p:nvPr/>
        </p:nvSpPr>
        <p:spPr>
          <a:xfrm>
            <a:off x="822960" y="62910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Steps span 10% of the coordinate range.</a:t>
            </a:r>
          </a:p>
        </p:txBody>
      </p:sp>
      <p:sp>
        <p:nvSpPr>
          <p:cNvPr id="26" name="Rounded Rectangle 25"/>
          <p:cNvSpPr/>
          <p:nvPr/>
        </p:nvSpPr>
        <p:spPr>
          <a:xfrm>
            <a:off x="5166360" y="47091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94960" y="48920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1</a:t>
            </a:r>
          </a:p>
        </p:txBody>
      </p:sp>
      <p:sp>
        <p:nvSpPr>
          <p:cNvPr id="28" name="TextBox 27"/>
          <p:cNvSpPr txBox="1"/>
          <p:nvPr/>
        </p:nvSpPr>
        <p:spPr>
          <a:xfrm>
            <a:off x="5394960" y="57241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elite</a:t>
            </a:r>
          </a:p>
        </p:txBody>
      </p:sp>
      <p:sp>
        <p:nvSpPr>
          <p:cNvPr id="29" name="TextBox 28"/>
          <p:cNvSpPr txBox="1"/>
          <p:nvPr/>
        </p:nvSpPr>
        <p:spPr>
          <a:xfrm>
            <a:off x="5394960" y="62910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Protect progress while most slots evolve.</a:t>
            </a:r>
          </a:p>
        </p:txBody>
      </p:sp>
      <p:sp>
        <p:nvSpPr>
          <p:cNvPr id="30" name="Rounded Rectangle 29"/>
          <p:cNvSpPr/>
          <p:nvPr/>
        </p:nvSpPr>
        <p:spPr>
          <a:xfrm>
            <a:off x="9738360" y="4709160"/>
            <a:ext cx="4297680" cy="2286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66960" y="4892040"/>
            <a:ext cx="37947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42</a:t>
            </a:r>
          </a:p>
        </p:txBody>
      </p:sp>
      <p:sp>
        <p:nvSpPr>
          <p:cNvPr id="32" name="TextBox 31"/>
          <p:cNvSpPr txBox="1"/>
          <p:nvPr/>
        </p:nvSpPr>
        <p:spPr>
          <a:xfrm>
            <a:off x="9966960" y="5724144"/>
            <a:ext cx="37947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random seed</a:t>
            </a:r>
          </a:p>
        </p:txBody>
      </p:sp>
      <p:sp>
        <p:nvSpPr>
          <p:cNvPr id="33" name="TextBox 32"/>
          <p:cNvSpPr txBox="1"/>
          <p:nvPr/>
        </p:nvSpPr>
        <p:spPr>
          <a:xfrm>
            <a:off x="9966960" y="6291072"/>
            <a:ext cx="37947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Replay the same random decisions.</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PARAMETER TUNING</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Tuning: smaller steps help, but can miss the basin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20 runs per setting · same seeds 42–61 · change one parameter · default stopping rules</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06</a:t>
            </a:r>
          </a:p>
        </p:txBody>
      </p:sp>
      <p:sp>
        <p:nvSpPr>
          <p:cNvPr id="10" name="TextBox 9"/>
          <p:cNvSpPr txBox="1"/>
          <p:nvPr/>
        </p:nvSpPr>
        <p:spPr>
          <a:xfrm>
            <a:off x="731520" y="2194560"/>
            <a:ext cx="2743200" cy="365760"/>
          </a:xfrm>
          <a:prstGeom prst="rect">
            <a:avLst/>
          </a:prstGeom>
          <a:noFill/>
        </p:spPr>
        <p:txBody>
          <a:bodyPr wrap="square" lIns="0" tIns="0" rIns="0" bIns="0">
            <a:spAutoFit/>
          </a:bodyPr>
          <a:lstStyle/>
          <a:p>
            <a:pPr>
              <a:spcBef>
                <a:spcPts val="0"/>
              </a:spcBef>
              <a:spcAft>
                <a:spcPts val="400"/>
              </a:spcAft>
              <a:defRPr sz="1500" b="1">
                <a:solidFill>
                  <a:srgbClr val="596B70"/>
                </a:solidFill>
                <a:latin typeface="Aptos"/>
              </a:defRPr>
            </a:pPr>
            <a:r>
              <a:t>SETTING</a:t>
            </a:r>
          </a:p>
        </p:txBody>
      </p:sp>
      <p:sp>
        <p:nvSpPr>
          <p:cNvPr id="11" name="TextBox 10"/>
          <p:cNvSpPr txBox="1"/>
          <p:nvPr/>
        </p:nvSpPr>
        <p:spPr>
          <a:xfrm>
            <a:off x="3657600" y="2194560"/>
            <a:ext cx="4572000" cy="365760"/>
          </a:xfrm>
          <a:prstGeom prst="rect">
            <a:avLst/>
          </a:prstGeom>
          <a:noFill/>
        </p:spPr>
        <p:txBody>
          <a:bodyPr wrap="square" lIns="0" tIns="0" rIns="0" bIns="0">
            <a:spAutoFit/>
          </a:bodyPr>
          <a:lstStyle/>
          <a:p>
            <a:pPr>
              <a:spcBef>
                <a:spcPts val="0"/>
              </a:spcBef>
              <a:spcAft>
                <a:spcPts val="400"/>
              </a:spcAft>
              <a:defRPr sz="1500" b="1">
                <a:solidFill>
                  <a:srgbClr val="596B70"/>
                </a:solidFill>
                <a:latin typeface="Aptos"/>
              </a:defRPr>
            </a:pPr>
            <a:r>
              <a:t>MEDIAN FINAL f(x)  ↓</a:t>
            </a:r>
          </a:p>
        </p:txBody>
      </p:sp>
      <p:sp>
        <p:nvSpPr>
          <p:cNvPr id="12" name="TextBox 11"/>
          <p:cNvSpPr txBox="1"/>
          <p:nvPr/>
        </p:nvSpPr>
        <p:spPr>
          <a:xfrm>
            <a:off x="9235440" y="2194560"/>
            <a:ext cx="2743200" cy="365760"/>
          </a:xfrm>
          <a:prstGeom prst="rect">
            <a:avLst/>
          </a:prstGeom>
          <a:noFill/>
        </p:spPr>
        <p:txBody>
          <a:bodyPr wrap="square" lIns="0" tIns="0" rIns="0" bIns="0">
            <a:spAutoFit/>
          </a:bodyPr>
          <a:lstStyle/>
          <a:p>
            <a:pPr>
              <a:spcBef>
                <a:spcPts val="0"/>
              </a:spcBef>
              <a:spcAft>
                <a:spcPts val="400"/>
              </a:spcAft>
              <a:defRPr sz="1500" b="1">
                <a:solidFill>
                  <a:srgbClr val="596B70"/>
                </a:solidFill>
                <a:latin typeface="Aptos"/>
              </a:defRPr>
            </a:pPr>
            <a:r>
              <a:t>WORST RUN  ↓</a:t>
            </a:r>
          </a:p>
        </p:txBody>
      </p:sp>
      <p:sp>
        <p:nvSpPr>
          <p:cNvPr id="13" name="TextBox 12"/>
          <p:cNvSpPr txBox="1"/>
          <p:nvPr/>
        </p:nvSpPr>
        <p:spPr>
          <a:xfrm>
            <a:off x="731520" y="2788920"/>
            <a:ext cx="2788920" cy="41148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Baseline</a:t>
            </a:r>
          </a:p>
        </p:txBody>
      </p:sp>
      <p:sp>
        <p:nvSpPr>
          <p:cNvPr id="14" name="Rounded Rectangle 13"/>
          <p:cNvSpPr/>
          <p:nvPr/>
        </p:nvSpPr>
        <p:spPr>
          <a:xfrm>
            <a:off x="3657600" y="2871215"/>
            <a:ext cx="4041768" cy="256032"/>
          </a:xfrm>
          <a:prstGeom prst="roundRect">
            <a:avLst>
              <a:gd name="adj" fmla="val 5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0" y="2788920"/>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0.0673</a:t>
            </a:r>
          </a:p>
        </p:txBody>
      </p:sp>
      <p:sp>
        <p:nvSpPr>
          <p:cNvPr id="16" name="TextBox 15"/>
          <p:cNvSpPr txBox="1"/>
          <p:nvPr/>
        </p:nvSpPr>
        <p:spPr>
          <a:xfrm>
            <a:off x="9326880" y="2788920"/>
            <a:ext cx="18288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0.1775</a:t>
            </a:r>
          </a:p>
        </p:txBody>
      </p:sp>
      <p:sp>
        <p:nvSpPr>
          <p:cNvPr id="17" name="TextBox 16"/>
          <p:cNvSpPr txBox="1"/>
          <p:nvPr/>
        </p:nvSpPr>
        <p:spPr>
          <a:xfrm>
            <a:off x="731520" y="3364991"/>
            <a:ext cx="2788920" cy="411480"/>
          </a:xfrm>
          <a:prstGeom prst="rect">
            <a:avLst/>
          </a:prstGeom>
          <a:noFill/>
        </p:spPr>
        <p:txBody>
          <a:bodyPr wrap="square" lIns="0" tIns="0" rIns="0" bIns="0">
            <a:spAutoFit/>
          </a:bodyPr>
          <a:lstStyle/>
          <a:p>
            <a:pPr>
              <a:spcBef>
                <a:spcPts val="0"/>
              </a:spcBef>
              <a:spcAft>
                <a:spcPts val="400"/>
              </a:spcAft>
              <a:defRPr sz="2200" b="0">
                <a:solidFill>
                  <a:srgbClr val="18343B"/>
                </a:solidFill>
                <a:latin typeface="Aptos"/>
              </a:defRPr>
            </a:pPr>
            <a:r>
              <a:t>Pc = 0.70</a:t>
            </a:r>
          </a:p>
        </p:txBody>
      </p:sp>
      <p:sp>
        <p:nvSpPr>
          <p:cNvPr id="18" name="Rounded Rectangle 17"/>
          <p:cNvSpPr/>
          <p:nvPr/>
        </p:nvSpPr>
        <p:spPr>
          <a:xfrm>
            <a:off x="3657600" y="3447287"/>
            <a:ext cx="2754390" cy="256032"/>
          </a:xfrm>
          <a:prstGeom prst="roundRect">
            <a:avLst>
              <a:gd name="adj" fmla="val 5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0" y="3364991"/>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0.0458</a:t>
            </a:r>
          </a:p>
        </p:txBody>
      </p:sp>
      <p:sp>
        <p:nvSpPr>
          <p:cNvPr id="20" name="TextBox 19"/>
          <p:cNvSpPr txBox="1"/>
          <p:nvPr/>
        </p:nvSpPr>
        <p:spPr>
          <a:xfrm>
            <a:off x="9326880" y="3364991"/>
            <a:ext cx="18288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0.2970</a:t>
            </a:r>
          </a:p>
        </p:txBody>
      </p:sp>
      <p:sp>
        <p:nvSpPr>
          <p:cNvPr id="21" name="TextBox 20"/>
          <p:cNvSpPr txBox="1"/>
          <p:nvPr/>
        </p:nvSpPr>
        <p:spPr>
          <a:xfrm>
            <a:off x="731520" y="3941063"/>
            <a:ext cx="2788920" cy="411480"/>
          </a:xfrm>
          <a:prstGeom prst="rect">
            <a:avLst/>
          </a:prstGeom>
          <a:noFill/>
        </p:spPr>
        <p:txBody>
          <a:bodyPr wrap="square" lIns="0" tIns="0" rIns="0" bIns="0">
            <a:spAutoFit/>
          </a:bodyPr>
          <a:lstStyle/>
          <a:p>
            <a:pPr>
              <a:spcBef>
                <a:spcPts val="0"/>
              </a:spcBef>
              <a:spcAft>
                <a:spcPts val="400"/>
              </a:spcAft>
              <a:defRPr sz="2200" b="0">
                <a:solidFill>
                  <a:srgbClr val="18343B"/>
                </a:solidFill>
                <a:latin typeface="Aptos"/>
              </a:defRPr>
            </a:pPr>
            <a:r>
              <a:t>Pm = 0.10</a:t>
            </a:r>
          </a:p>
        </p:txBody>
      </p:sp>
      <p:sp>
        <p:nvSpPr>
          <p:cNvPr id="22" name="Rounded Rectangle 21"/>
          <p:cNvSpPr/>
          <p:nvPr/>
        </p:nvSpPr>
        <p:spPr>
          <a:xfrm>
            <a:off x="3657600" y="4023359"/>
            <a:ext cx="1124557" cy="256032"/>
          </a:xfrm>
          <a:prstGeom prst="roundRect">
            <a:avLst>
              <a:gd name="adj" fmla="val 5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0" y="3941063"/>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0.0187</a:t>
            </a:r>
          </a:p>
        </p:txBody>
      </p:sp>
      <p:sp>
        <p:nvSpPr>
          <p:cNvPr id="24" name="TextBox 23"/>
          <p:cNvSpPr txBox="1"/>
          <p:nvPr/>
        </p:nvSpPr>
        <p:spPr>
          <a:xfrm>
            <a:off x="9326880" y="3941063"/>
            <a:ext cx="18288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0.0758</a:t>
            </a:r>
          </a:p>
        </p:txBody>
      </p:sp>
      <p:sp>
        <p:nvSpPr>
          <p:cNvPr id="25" name="TextBox 24"/>
          <p:cNvSpPr txBox="1"/>
          <p:nvPr/>
        </p:nvSpPr>
        <p:spPr>
          <a:xfrm>
            <a:off x="731520" y="4517136"/>
            <a:ext cx="2788920" cy="411480"/>
          </a:xfrm>
          <a:prstGeom prst="rect">
            <a:avLst/>
          </a:prstGeom>
          <a:noFill/>
        </p:spPr>
        <p:txBody>
          <a:bodyPr wrap="square" lIns="0" tIns="0" rIns="0" bIns="0">
            <a:spAutoFit/>
          </a:bodyPr>
          <a:lstStyle/>
          <a:p>
            <a:pPr>
              <a:spcBef>
                <a:spcPts val="0"/>
              </a:spcBef>
              <a:spcAft>
                <a:spcPts val="400"/>
              </a:spcAft>
              <a:defRPr sz="2200" b="0">
                <a:solidFill>
                  <a:srgbClr val="18343B"/>
                </a:solidFill>
                <a:latin typeface="Aptos"/>
              </a:defRPr>
            </a:pPr>
            <a:r>
              <a:t>σ = 0.10</a:t>
            </a:r>
          </a:p>
        </p:txBody>
      </p:sp>
      <p:sp>
        <p:nvSpPr>
          <p:cNvPr id="26" name="Rounded Rectangle 25"/>
          <p:cNvSpPr/>
          <p:nvPr/>
        </p:nvSpPr>
        <p:spPr>
          <a:xfrm>
            <a:off x="3657600" y="4599431"/>
            <a:ext cx="311098" cy="256032"/>
          </a:xfrm>
          <a:prstGeom prst="roundRect">
            <a:avLst>
              <a:gd name="adj" fmla="val 5000"/>
            </a:avLst>
          </a:prstGeom>
          <a:solidFill>
            <a:srgbClr val="AF8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0" y="4517136"/>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0.0052</a:t>
            </a:r>
          </a:p>
        </p:txBody>
      </p:sp>
      <p:sp>
        <p:nvSpPr>
          <p:cNvPr id="28" name="TextBox 27"/>
          <p:cNvSpPr txBox="1"/>
          <p:nvPr/>
        </p:nvSpPr>
        <p:spPr>
          <a:xfrm>
            <a:off x="9326880" y="4517136"/>
            <a:ext cx="1828800" cy="365760"/>
          </a:xfrm>
          <a:prstGeom prst="rect">
            <a:avLst/>
          </a:prstGeom>
          <a:noFill/>
        </p:spPr>
        <p:txBody>
          <a:bodyPr wrap="square" lIns="0" tIns="0" rIns="0" bIns="0">
            <a:spAutoFit/>
          </a:bodyPr>
          <a:lstStyle/>
          <a:p>
            <a:pPr>
              <a:spcBef>
                <a:spcPts val="0"/>
              </a:spcBef>
              <a:spcAft>
                <a:spcPts val="400"/>
              </a:spcAft>
              <a:defRPr sz="2100" b="0">
                <a:solidFill>
                  <a:srgbClr val="C4671A"/>
                </a:solidFill>
                <a:latin typeface="Aptos"/>
              </a:defRPr>
            </a:pPr>
            <a:r>
              <a:t>2.5802</a:t>
            </a:r>
          </a:p>
        </p:txBody>
      </p:sp>
      <p:sp>
        <p:nvSpPr>
          <p:cNvPr id="29" name="TextBox 28"/>
          <p:cNvSpPr txBox="1"/>
          <p:nvPr/>
        </p:nvSpPr>
        <p:spPr>
          <a:xfrm>
            <a:off x="731520" y="5093208"/>
            <a:ext cx="2788920" cy="411480"/>
          </a:xfrm>
          <a:prstGeom prst="rect">
            <a:avLst/>
          </a:prstGeom>
          <a:noFill/>
        </p:spPr>
        <p:txBody>
          <a:bodyPr wrap="square" lIns="0" tIns="0" rIns="0" bIns="0">
            <a:spAutoFit/>
          </a:bodyPr>
          <a:lstStyle/>
          <a:p>
            <a:pPr>
              <a:spcBef>
                <a:spcPts val="0"/>
              </a:spcBef>
              <a:spcAft>
                <a:spcPts val="400"/>
              </a:spcAft>
              <a:defRPr sz="2200" b="0">
                <a:solidFill>
                  <a:srgbClr val="18343B"/>
                </a:solidFill>
                <a:latin typeface="Aptos"/>
              </a:defRPr>
            </a:pPr>
            <a:r>
              <a:t>σ = 0.50</a:t>
            </a:r>
          </a:p>
        </p:txBody>
      </p:sp>
      <p:sp>
        <p:nvSpPr>
          <p:cNvPr id="30" name="Rounded Rectangle 29"/>
          <p:cNvSpPr/>
          <p:nvPr/>
        </p:nvSpPr>
        <p:spPr>
          <a:xfrm>
            <a:off x="3657600" y="5175504"/>
            <a:ext cx="1482609" cy="256032"/>
          </a:xfrm>
          <a:prstGeom prst="roundRect">
            <a:avLst>
              <a:gd name="adj" fmla="val 5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20" y="5093208"/>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0.0247</a:t>
            </a:r>
          </a:p>
        </p:txBody>
      </p:sp>
      <p:sp>
        <p:nvSpPr>
          <p:cNvPr id="32" name="TextBox 31"/>
          <p:cNvSpPr txBox="1"/>
          <p:nvPr/>
        </p:nvSpPr>
        <p:spPr>
          <a:xfrm>
            <a:off x="9326880" y="5093208"/>
            <a:ext cx="18288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0.1387</a:t>
            </a:r>
          </a:p>
        </p:txBody>
      </p:sp>
      <p:sp>
        <p:nvSpPr>
          <p:cNvPr id="33" name="TextBox 32"/>
          <p:cNvSpPr txBox="1"/>
          <p:nvPr/>
        </p:nvSpPr>
        <p:spPr>
          <a:xfrm>
            <a:off x="731520" y="5669279"/>
            <a:ext cx="2788920" cy="411480"/>
          </a:xfrm>
          <a:prstGeom prst="rect">
            <a:avLst/>
          </a:prstGeom>
          <a:noFill/>
        </p:spPr>
        <p:txBody>
          <a:bodyPr wrap="square" lIns="0" tIns="0" rIns="0" bIns="0">
            <a:spAutoFit/>
          </a:bodyPr>
          <a:lstStyle/>
          <a:p>
            <a:pPr>
              <a:spcBef>
                <a:spcPts val="0"/>
              </a:spcBef>
              <a:spcAft>
                <a:spcPts val="400"/>
              </a:spcAft>
              <a:defRPr sz="2200" b="0">
                <a:solidFill>
                  <a:srgbClr val="18343B"/>
                </a:solidFill>
                <a:latin typeface="Aptos"/>
              </a:defRPr>
            </a:pPr>
            <a:r>
              <a:t>N = 100</a:t>
            </a:r>
          </a:p>
        </p:txBody>
      </p:sp>
      <p:sp>
        <p:nvSpPr>
          <p:cNvPr id="34" name="Rounded Rectangle 33"/>
          <p:cNvSpPr/>
          <p:nvPr/>
        </p:nvSpPr>
        <p:spPr>
          <a:xfrm>
            <a:off x="3657600" y="5751575"/>
            <a:ext cx="1583665" cy="256032"/>
          </a:xfrm>
          <a:prstGeom prst="roundRect">
            <a:avLst>
              <a:gd name="adj" fmla="val 5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5669279"/>
            <a:ext cx="1188720" cy="365760"/>
          </a:xfrm>
          <a:prstGeom prst="rect">
            <a:avLst/>
          </a:prstGeom>
          <a:noFill/>
        </p:spPr>
        <p:txBody>
          <a:bodyPr wrap="square" lIns="0" tIns="0" rIns="0" bIns="0">
            <a:spAutoFit/>
          </a:bodyPr>
          <a:lstStyle/>
          <a:p>
            <a:pPr>
              <a:spcBef>
                <a:spcPts val="0"/>
              </a:spcBef>
              <a:spcAft>
                <a:spcPts val="400"/>
              </a:spcAft>
              <a:defRPr sz="2000" b="1">
                <a:solidFill>
                  <a:srgbClr val="0A7EA4"/>
                </a:solidFill>
                <a:latin typeface="Aptos"/>
              </a:defRPr>
            </a:pPr>
            <a:r>
              <a:t>0.0264</a:t>
            </a:r>
          </a:p>
        </p:txBody>
      </p:sp>
      <p:sp>
        <p:nvSpPr>
          <p:cNvPr id="36" name="TextBox 35"/>
          <p:cNvSpPr txBox="1"/>
          <p:nvPr/>
        </p:nvSpPr>
        <p:spPr>
          <a:xfrm>
            <a:off x="9326880" y="5669279"/>
            <a:ext cx="18288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0.0971</a:t>
            </a:r>
          </a:p>
        </p:txBody>
      </p:sp>
      <p:cxnSp>
        <p:nvCxnSpPr>
          <p:cNvPr id="37" name="Connector 36"/>
          <p:cNvCxnSpPr/>
          <p:nvPr/>
        </p:nvCxnSpPr>
        <p:spPr>
          <a:xfrm>
            <a:off x="731520" y="6336792"/>
            <a:ext cx="1307592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1520" y="6547104"/>
            <a:ext cx="6583680" cy="411480"/>
          </a:xfrm>
          <a:prstGeom prst="rect">
            <a:avLst/>
          </a:prstGeom>
          <a:noFill/>
        </p:spPr>
        <p:txBody>
          <a:bodyPr wrap="square" lIns="0" tIns="0" rIns="0" bIns="0">
            <a:spAutoFit/>
          </a:bodyPr>
          <a:lstStyle/>
          <a:p>
            <a:pPr>
              <a:spcBef>
                <a:spcPts val="0"/>
              </a:spcBef>
              <a:spcAft>
                <a:spcPts val="400"/>
              </a:spcAft>
              <a:defRPr sz="2300" b="1">
                <a:solidFill>
                  <a:srgbClr val="C4671A"/>
                </a:solidFill>
                <a:latin typeface="Aptos"/>
              </a:defRPr>
            </a:pPr>
            <a:r>
              <a:t>σ = 0.10: strong median, weak worst case.</a:t>
            </a:r>
          </a:p>
        </p:txBody>
      </p:sp>
      <p:sp>
        <p:nvSpPr>
          <p:cNvPr id="39" name="TextBox 38"/>
          <p:cNvSpPr txBox="1"/>
          <p:nvPr/>
        </p:nvSpPr>
        <p:spPr>
          <a:xfrm>
            <a:off x="7589520" y="6556248"/>
            <a:ext cx="640080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Tune exploration and precision together.</a:t>
            </a:r>
          </a:p>
        </p:txBody>
      </p:sp>
      <p:sp>
        <p:nvSpPr>
          <p:cNvPr id="40" name="TextBox 39"/>
          <p:cNvSpPr txBox="1"/>
          <p:nvPr/>
        </p:nvSpPr>
        <p:spPr>
          <a:xfrm>
            <a:off x="731520" y="7168896"/>
            <a:ext cx="13350240" cy="338328"/>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Exploratory comparison; larger N uses more evaluations. No setting reached f &lt; 0.001 in these 20 runs.</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METHODS · ENCODING &amp; INITIALIZATION</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Initialization: store real numbers and spread the search</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Each coordinate is sampled independently and uniformly from [−5, 5].</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07</a:t>
            </a:r>
          </a:p>
        </p:txBody>
      </p:sp>
      <p:pic>
        <p:nvPicPr>
          <p:cNvPr id="10" name="Icon: random-initialization" descr="icon_random-initializatio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680" y="2468880"/>
            <a:ext cx="731520" cy="731520"/>
          </a:xfrm>
          <a:prstGeom prst="rect">
            <a:avLst/>
          </a:prstGeom>
        </p:spPr>
      </p:pic>
      <p:sp>
        <p:nvSpPr>
          <p:cNvPr id="11" name="TextBox 10"/>
          <p:cNvSpPr txBox="1"/>
          <p:nvPr/>
        </p:nvSpPr>
        <p:spPr>
          <a:xfrm>
            <a:off x="868680" y="3364992"/>
            <a:ext cx="4937760" cy="457200"/>
          </a:xfrm>
          <a:prstGeom prst="rect">
            <a:avLst/>
          </a:prstGeom>
          <a:noFill/>
        </p:spPr>
        <p:txBody>
          <a:bodyPr wrap="square" lIns="0" tIns="0" rIns="0" bIns="0">
            <a:spAutoFit/>
          </a:bodyPr>
          <a:lstStyle/>
          <a:p>
            <a:pPr>
              <a:spcBef>
                <a:spcPts val="0"/>
              </a:spcBef>
              <a:spcAft>
                <a:spcPts val="400"/>
              </a:spcAft>
              <a:defRPr sz="2600" b="1">
                <a:solidFill>
                  <a:srgbClr val="18343B"/>
                </a:solidFill>
                <a:latin typeface="Aptos"/>
              </a:defRPr>
            </a:pPr>
            <a:r>
              <a:t>Uniform initialization</a:t>
            </a:r>
          </a:p>
        </p:txBody>
      </p:sp>
      <p:sp>
        <p:nvSpPr>
          <p:cNvPr id="12" name="TextBox 11"/>
          <p:cNvSpPr txBox="1"/>
          <p:nvPr/>
        </p:nvSpPr>
        <p:spPr>
          <a:xfrm>
            <a:off x="868680" y="3922776"/>
            <a:ext cx="4663440" cy="914400"/>
          </a:xfrm>
          <a:prstGeom prst="rect">
            <a:avLst/>
          </a:prstGeom>
          <a:noFill/>
        </p:spPr>
        <p:txBody>
          <a:bodyPr wrap="square" lIns="0" tIns="0" rIns="0" bIns="0">
            <a:spAutoFit/>
          </a:bodyPr>
          <a:lstStyle/>
          <a:p>
            <a:pPr>
              <a:spcBef>
                <a:spcPts val="0"/>
              </a:spcBef>
              <a:spcAft>
                <a:spcPts val="400"/>
              </a:spcAft>
              <a:defRPr sz="2300" b="0">
                <a:solidFill>
                  <a:srgbClr val="596B70"/>
                </a:solidFill>
                <a:latin typeface="Aptos"/>
              </a:defRPr>
            </a:pPr>
            <a:r>
              <a:t>Equal sampling density across the domain.</a:t>
            </a:r>
          </a:p>
        </p:txBody>
      </p:sp>
      <p:sp>
        <p:nvSpPr>
          <p:cNvPr id="13" name="TextBox 12"/>
          <p:cNvSpPr txBox="1"/>
          <p:nvPr/>
        </p:nvSpPr>
        <p:spPr>
          <a:xfrm>
            <a:off x="868680" y="5212080"/>
            <a:ext cx="5029200" cy="914400"/>
          </a:xfrm>
          <a:prstGeom prst="rect">
            <a:avLst/>
          </a:prstGeom>
          <a:noFill/>
        </p:spPr>
        <p:txBody>
          <a:bodyPr wrap="square" lIns="0" tIns="0" rIns="0" bIns="0">
            <a:spAutoFit/>
          </a:bodyPr>
          <a:lstStyle/>
          <a:p>
            <a:pPr>
              <a:spcBef>
                <a:spcPts val="0"/>
              </a:spcBef>
              <a:spcAft>
                <a:spcPts val="400"/>
              </a:spcAft>
              <a:defRPr sz="2400" b="1">
                <a:solidFill>
                  <a:srgbClr val="0A7EA4"/>
                </a:solidFill>
                <a:latin typeface="Aptos"/>
              </a:defRPr>
            </a:pPr>
            <a:r>
              <a:t>Why: broad starting coverage,</a:t>
            </a:r>
          </a:p>
          <a:p>
            <a:pPr>
              <a:spcBef>
                <a:spcPts val="0"/>
              </a:spcBef>
              <a:spcAft>
                <a:spcPts val="400"/>
              </a:spcAft>
              <a:defRPr sz="2400" b="1">
                <a:solidFill>
                  <a:srgbClr val="0A7EA4"/>
                </a:solidFill>
                <a:latin typeface="Aptos"/>
              </a:defRPr>
            </a:pPr>
            <a:r>
              <a:t>with no preferred region.</a:t>
            </a:r>
          </a:p>
        </p:txBody>
      </p:sp>
      <p:sp>
        <p:nvSpPr>
          <p:cNvPr id="14" name="Rounded Rectangle 13"/>
          <p:cNvSpPr/>
          <p:nvPr/>
        </p:nvSpPr>
        <p:spPr>
          <a:xfrm>
            <a:off x="6400800" y="2423160"/>
            <a:ext cx="7315200" cy="4343400"/>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0" y="2697480"/>
            <a:ext cx="5486400" cy="457200"/>
          </a:xfrm>
          <a:prstGeom prst="rect">
            <a:avLst/>
          </a:prstGeom>
          <a:noFill/>
        </p:spPr>
        <p:txBody>
          <a:bodyPr wrap="square" lIns="0" tIns="0" rIns="0" bIns="0">
            <a:spAutoFit/>
          </a:bodyPr>
          <a:lstStyle/>
          <a:p>
            <a:pPr>
              <a:spcBef>
                <a:spcPts val="0"/>
              </a:spcBef>
              <a:spcAft>
                <a:spcPts val="400"/>
              </a:spcAft>
              <a:defRPr sz="2500" b="1">
                <a:solidFill>
                  <a:srgbClr val="18343B"/>
                </a:solidFill>
                <a:latin typeface="Aptos"/>
              </a:defRPr>
            </a:pPr>
            <a:r>
              <a:t>One chromosome</a:t>
            </a:r>
          </a:p>
        </p:txBody>
      </p:sp>
      <p:sp>
        <p:nvSpPr>
          <p:cNvPr id="16" name="Rounded Rectangle 15"/>
          <p:cNvSpPr/>
          <p:nvPr/>
        </p:nvSpPr>
        <p:spPr>
          <a:xfrm>
            <a:off x="7772400" y="3538728"/>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45552" y="3657600"/>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x₁</a:t>
            </a:r>
          </a:p>
        </p:txBody>
      </p:sp>
      <p:sp>
        <p:nvSpPr>
          <p:cNvPr id="18" name="Rounded Rectangle 17"/>
          <p:cNvSpPr/>
          <p:nvPr/>
        </p:nvSpPr>
        <p:spPr>
          <a:xfrm>
            <a:off x="9464040" y="3538728"/>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37192" y="3657600"/>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x₂</a:t>
            </a:r>
          </a:p>
        </p:txBody>
      </p:sp>
      <p:sp>
        <p:nvSpPr>
          <p:cNvPr id="20" name="TextBox 19"/>
          <p:cNvSpPr txBox="1"/>
          <p:nvPr/>
        </p:nvSpPr>
        <p:spPr>
          <a:xfrm>
            <a:off x="7360920" y="4443984"/>
            <a:ext cx="5303520" cy="548640"/>
          </a:xfrm>
          <a:prstGeom prst="rect">
            <a:avLst/>
          </a:prstGeom>
          <a:noFill/>
        </p:spPr>
        <p:txBody>
          <a:bodyPr wrap="square" lIns="0" tIns="0" rIns="0" bIns="0">
            <a:spAutoFit/>
          </a:bodyPr>
          <a:lstStyle/>
          <a:p>
            <a:pPr>
              <a:spcBef>
                <a:spcPts val="0"/>
              </a:spcBef>
              <a:spcAft>
                <a:spcPts val="400"/>
              </a:spcAft>
              <a:defRPr sz="2700" b="0">
                <a:solidFill>
                  <a:srgbClr val="18343B"/>
                </a:solidFill>
                <a:latin typeface="Cambria Math"/>
              </a:defRPr>
            </a:pPr>
            <a:r>
              <a:t>Each gene ∼ U(−5, 5)</a:t>
            </a:r>
          </a:p>
        </p:txBody>
      </p:sp>
      <p:cxnSp>
        <p:nvCxnSpPr>
          <p:cNvPr id="21" name="Connector 20"/>
          <p:cNvCxnSpPr/>
          <p:nvPr/>
        </p:nvCxnSpPr>
        <p:spPr>
          <a:xfrm>
            <a:off x="7315200" y="5760720"/>
            <a:ext cx="5486400" cy="0"/>
          </a:xfrm>
          <a:prstGeom prst="line">
            <a:avLst/>
          </a:prstGeom>
          <a:ln w="2540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315200" y="5632704"/>
            <a:ext cx="0" cy="274320"/>
          </a:xfrm>
          <a:prstGeom prst="line">
            <a:avLst/>
          </a:prstGeom>
          <a:ln w="25400">
            <a:solidFill>
              <a:srgbClr val="0A7EA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49440" y="6053328"/>
            <a:ext cx="731520" cy="365760"/>
          </a:xfrm>
          <a:prstGeom prst="rect">
            <a:avLst/>
          </a:prstGeom>
          <a:noFill/>
        </p:spPr>
        <p:txBody>
          <a:bodyPr wrap="square" lIns="0" tIns="0" rIns="0" bIns="0">
            <a:spAutoFit/>
          </a:bodyPr>
          <a:lstStyle/>
          <a:p>
            <a:pPr algn="ctr">
              <a:spcBef>
                <a:spcPts val="0"/>
              </a:spcBef>
              <a:spcAft>
                <a:spcPts val="400"/>
              </a:spcAft>
              <a:defRPr sz="1900" b="0">
                <a:solidFill>
                  <a:srgbClr val="596B70"/>
                </a:solidFill>
                <a:latin typeface="Aptos"/>
              </a:defRPr>
            </a:pPr>
            <a:r>
              <a:t>−5</a:t>
            </a:r>
          </a:p>
        </p:txBody>
      </p:sp>
      <p:cxnSp>
        <p:nvCxnSpPr>
          <p:cNvPr id="24" name="Connector 23"/>
          <p:cNvCxnSpPr/>
          <p:nvPr/>
        </p:nvCxnSpPr>
        <p:spPr>
          <a:xfrm>
            <a:off x="10058400" y="5632704"/>
            <a:ext cx="0" cy="274320"/>
          </a:xfrm>
          <a:prstGeom prst="line">
            <a:avLst/>
          </a:prstGeom>
          <a:ln w="25400">
            <a:solidFill>
              <a:srgbClr val="0A7EA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92640" y="6053328"/>
            <a:ext cx="731520" cy="365760"/>
          </a:xfrm>
          <a:prstGeom prst="rect">
            <a:avLst/>
          </a:prstGeom>
          <a:noFill/>
        </p:spPr>
        <p:txBody>
          <a:bodyPr wrap="square" lIns="0" tIns="0" rIns="0" bIns="0">
            <a:spAutoFit/>
          </a:bodyPr>
          <a:lstStyle/>
          <a:p>
            <a:pPr algn="ctr">
              <a:spcBef>
                <a:spcPts val="0"/>
              </a:spcBef>
              <a:spcAft>
                <a:spcPts val="400"/>
              </a:spcAft>
              <a:defRPr sz="1900" b="0">
                <a:solidFill>
                  <a:srgbClr val="596B70"/>
                </a:solidFill>
                <a:latin typeface="Aptos"/>
              </a:defRPr>
            </a:pPr>
            <a:r>
              <a:t>0</a:t>
            </a:r>
          </a:p>
        </p:txBody>
      </p:sp>
      <p:cxnSp>
        <p:nvCxnSpPr>
          <p:cNvPr id="26" name="Connector 25"/>
          <p:cNvCxnSpPr/>
          <p:nvPr/>
        </p:nvCxnSpPr>
        <p:spPr>
          <a:xfrm>
            <a:off x="12801600" y="5632704"/>
            <a:ext cx="0" cy="274320"/>
          </a:xfrm>
          <a:prstGeom prst="line">
            <a:avLst/>
          </a:prstGeom>
          <a:ln w="25400">
            <a:solidFill>
              <a:srgbClr val="0A7EA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2435840" y="6053328"/>
            <a:ext cx="731520" cy="365760"/>
          </a:xfrm>
          <a:prstGeom prst="rect">
            <a:avLst/>
          </a:prstGeom>
          <a:noFill/>
        </p:spPr>
        <p:txBody>
          <a:bodyPr wrap="square" lIns="0" tIns="0" rIns="0" bIns="0">
            <a:spAutoFit/>
          </a:bodyPr>
          <a:lstStyle/>
          <a:p>
            <a:pPr algn="ctr">
              <a:spcBef>
                <a:spcPts val="0"/>
              </a:spcBef>
              <a:spcAft>
                <a:spcPts val="400"/>
              </a:spcAft>
              <a:defRPr sz="1900" b="0">
                <a:solidFill>
                  <a:srgbClr val="596B70"/>
                </a:solidFill>
                <a:latin typeface="Aptos"/>
              </a:defRPr>
            </a:pPr>
            <a:r>
              <a:t>5</a:t>
            </a:r>
          </a:p>
        </p:txBody>
      </p:sp>
      <p:sp>
        <p:nvSpPr>
          <p:cNvPr id="28" name="Oval 27"/>
          <p:cNvSpPr/>
          <p:nvPr/>
        </p:nvSpPr>
        <p:spPr>
          <a:xfrm>
            <a:off x="7955279"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778240"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418320"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424160"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1521440"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2070080" y="5678424"/>
            <a:ext cx="164592" cy="164592"/>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METHODS · FITNESS &amp; ROULETTE</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Selection: turn low cost into a higher chance</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Fitness is recomputed relative to the worst individual in each generation.</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08</a:t>
            </a:r>
          </a:p>
        </p:txBody>
      </p:sp>
      <p:sp>
        <p:nvSpPr>
          <p:cNvPr id="10" name="TextBox 9"/>
          <p:cNvSpPr txBox="1"/>
          <p:nvPr/>
        </p:nvSpPr>
        <p:spPr>
          <a:xfrm>
            <a:off x="777240" y="2377440"/>
            <a:ext cx="5669280" cy="731520"/>
          </a:xfrm>
          <a:prstGeom prst="rect">
            <a:avLst/>
          </a:prstGeom>
          <a:noFill/>
        </p:spPr>
        <p:txBody>
          <a:bodyPr wrap="square" lIns="0" tIns="0" rIns="0" bIns="0">
            <a:spAutoFit/>
          </a:bodyPr>
          <a:lstStyle/>
          <a:p>
            <a:pPr>
              <a:spcBef>
                <a:spcPts val="0"/>
              </a:spcBef>
              <a:spcAft>
                <a:spcPts val="400"/>
              </a:spcAft>
              <a:defRPr sz="3500" b="1">
                <a:solidFill>
                  <a:srgbClr val="0A7EA4"/>
                </a:solidFill>
                <a:latin typeface="Cambria Math"/>
              </a:defRPr>
            </a:pPr>
            <a:r>
              <a:t>Fᵢ = fworst − fᵢ</a:t>
            </a:r>
          </a:p>
        </p:txBody>
      </p:sp>
      <p:sp>
        <p:nvSpPr>
          <p:cNvPr id="11" name="TextBox 10"/>
          <p:cNvSpPr txBox="1"/>
          <p:nvPr/>
        </p:nvSpPr>
        <p:spPr>
          <a:xfrm>
            <a:off x="777240" y="3264408"/>
            <a:ext cx="5669280" cy="731520"/>
          </a:xfrm>
          <a:prstGeom prst="rect">
            <a:avLst/>
          </a:prstGeom>
          <a:noFill/>
        </p:spPr>
        <p:txBody>
          <a:bodyPr wrap="square" lIns="0" tIns="0" rIns="0" bIns="0">
            <a:spAutoFit/>
          </a:bodyPr>
          <a:lstStyle/>
          <a:p>
            <a:pPr>
              <a:spcBef>
                <a:spcPts val="0"/>
              </a:spcBef>
              <a:spcAft>
                <a:spcPts val="400"/>
              </a:spcAft>
              <a:defRPr sz="3200" b="0">
                <a:solidFill>
                  <a:srgbClr val="18343B"/>
                </a:solidFill>
                <a:latin typeface="Cambria Math"/>
              </a:defRPr>
            </a:pPr>
            <a:r>
              <a:t>pᵢ = Fᵢ / ΣF</a:t>
            </a:r>
          </a:p>
        </p:txBody>
      </p:sp>
      <p:sp>
        <p:nvSpPr>
          <p:cNvPr id="12" name="TextBox 11"/>
          <p:cNvSpPr txBox="1"/>
          <p:nvPr/>
        </p:nvSpPr>
        <p:spPr>
          <a:xfrm>
            <a:off x="7452360" y="2377440"/>
            <a:ext cx="5669280" cy="457200"/>
          </a:xfrm>
          <a:prstGeom prst="rect">
            <a:avLst/>
          </a:prstGeom>
          <a:noFill/>
        </p:spPr>
        <p:txBody>
          <a:bodyPr wrap="square" lIns="0" tIns="0" rIns="0" bIns="0">
            <a:spAutoFit/>
          </a:bodyPr>
          <a:lstStyle/>
          <a:p>
            <a:pPr>
              <a:spcBef>
                <a:spcPts val="0"/>
              </a:spcBef>
              <a:spcAft>
                <a:spcPts val="400"/>
              </a:spcAft>
              <a:defRPr sz="2300" b="1">
                <a:solidFill>
                  <a:srgbClr val="18343B"/>
                </a:solidFill>
                <a:latin typeface="Aptos"/>
              </a:defRPr>
            </a:pPr>
            <a:r>
              <a:t>Toy scores</a:t>
            </a:r>
          </a:p>
        </p:txBody>
      </p:sp>
      <p:sp>
        <p:nvSpPr>
          <p:cNvPr id="13" name="TextBox 12"/>
          <p:cNvSpPr txBox="1"/>
          <p:nvPr/>
        </p:nvSpPr>
        <p:spPr>
          <a:xfrm>
            <a:off x="7452360" y="3081528"/>
            <a:ext cx="1828800" cy="365760"/>
          </a:xfrm>
          <a:prstGeom prst="rect">
            <a:avLst/>
          </a:prstGeom>
          <a:noFill/>
        </p:spPr>
        <p:txBody>
          <a:bodyPr wrap="square" lIns="0" tIns="0" rIns="0" bIns="0">
            <a:spAutoFit/>
          </a:bodyPr>
          <a:lstStyle/>
          <a:p>
            <a:pPr>
              <a:spcBef>
                <a:spcPts val="0"/>
              </a:spcBef>
              <a:spcAft>
                <a:spcPts val="400"/>
              </a:spcAft>
              <a:defRPr sz="2300" b="0">
                <a:solidFill>
                  <a:srgbClr val="18343B"/>
                </a:solidFill>
                <a:latin typeface="Aptos"/>
              </a:defRPr>
            </a:pPr>
            <a:r>
              <a:t>A: f = 2</a:t>
            </a:r>
          </a:p>
        </p:txBody>
      </p:sp>
      <p:sp>
        <p:nvSpPr>
          <p:cNvPr id="14" name="Rectangle 13"/>
          <p:cNvSpPr/>
          <p:nvPr/>
        </p:nvSpPr>
        <p:spPr>
          <a:xfrm>
            <a:off x="9509760" y="3163824"/>
            <a:ext cx="2194560" cy="274320"/>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024360" y="3081528"/>
            <a:ext cx="1371600" cy="36576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60%</a:t>
            </a:r>
          </a:p>
        </p:txBody>
      </p:sp>
      <p:sp>
        <p:nvSpPr>
          <p:cNvPr id="16" name="TextBox 15"/>
          <p:cNvSpPr txBox="1"/>
          <p:nvPr/>
        </p:nvSpPr>
        <p:spPr>
          <a:xfrm>
            <a:off x="7452360" y="3776472"/>
            <a:ext cx="1828800" cy="365760"/>
          </a:xfrm>
          <a:prstGeom prst="rect">
            <a:avLst/>
          </a:prstGeom>
          <a:noFill/>
        </p:spPr>
        <p:txBody>
          <a:bodyPr wrap="square" lIns="0" tIns="0" rIns="0" bIns="0">
            <a:spAutoFit/>
          </a:bodyPr>
          <a:lstStyle/>
          <a:p>
            <a:pPr>
              <a:spcBef>
                <a:spcPts val="0"/>
              </a:spcBef>
              <a:spcAft>
                <a:spcPts val="400"/>
              </a:spcAft>
              <a:defRPr sz="2300" b="0">
                <a:solidFill>
                  <a:srgbClr val="18343B"/>
                </a:solidFill>
                <a:latin typeface="Aptos"/>
              </a:defRPr>
            </a:pPr>
            <a:r>
              <a:t>B: f = 4</a:t>
            </a:r>
          </a:p>
        </p:txBody>
      </p:sp>
      <p:sp>
        <p:nvSpPr>
          <p:cNvPr id="17" name="Rectangle 16"/>
          <p:cNvSpPr/>
          <p:nvPr/>
        </p:nvSpPr>
        <p:spPr>
          <a:xfrm>
            <a:off x="9509760" y="3858768"/>
            <a:ext cx="1463040" cy="274320"/>
          </a:xfrm>
          <a:prstGeom prst="rect">
            <a:avLst/>
          </a:prstGeom>
          <a:solidFill>
            <a:srgbClr val="2F8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024360" y="3776472"/>
            <a:ext cx="1371600" cy="36576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40%</a:t>
            </a:r>
          </a:p>
        </p:txBody>
      </p:sp>
      <p:sp>
        <p:nvSpPr>
          <p:cNvPr id="19" name="TextBox 18"/>
          <p:cNvSpPr txBox="1"/>
          <p:nvPr/>
        </p:nvSpPr>
        <p:spPr>
          <a:xfrm>
            <a:off x="7452360" y="4471416"/>
            <a:ext cx="1828800" cy="365760"/>
          </a:xfrm>
          <a:prstGeom prst="rect">
            <a:avLst/>
          </a:prstGeom>
          <a:noFill/>
        </p:spPr>
        <p:txBody>
          <a:bodyPr wrap="square" lIns="0" tIns="0" rIns="0" bIns="0">
            <a:spAutoFit/>
          </a:bodyPr>
          <a:lstStyle/>
          <a:p>
            <a:pPr>
              <a:spcBef>
                <a:spcPts val="0"/>
              </a:spcBef>
              <a:spcAft>
                <a:spcPts val="400"/>
              </a:spcAft>
              <a:defRPr sz="2300" b="0">
                <a:solidFill>
                  <a:srgbClr val="18343B"/>
                </a:solidFill>
                <a:latin typeface="Aptos"/>
              </a:defRPr>
            </a:pPr>
            <a:r>
              <a:t>C: f = 8</a:t>
            </a:r>
          </a:p>
        </p:txBody>
      </p:sp>
      <p:sp>
        <p:nvSpPr>
          <p:cNvPr id="20" name="Rectangle 19"/>
          <p:cNvSpPr/>
          <p:nvPr/>
        </p:nvSpPr>
        <p:spPr>
          <a:xfrm>
            <a:off x="9509760" y="4553712"/>
            <a:ext cx="0" cy="274320"/>
          </a:xfrm>
          <a:prstGeom prst="rect">
            <a:avLst/>
          </a:prstGeom>
          <a:solidFill>
            <a:srgbClr val="2F8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24360" y="4471416"/>
            <a:ext cx="1371600" cy="36576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0%</a:t>
            </a:r>
          </a:p>
        </p:txBody>
      </p:sp>
      <p:sp>
        <p:nvSpPr>
          <p:cNvPr id="22" name="Rounded Rectangle 21"/>
          <p:cNvSpPr/>
          <p:nvPr/>
        </p:nvSpPr>
        <p:spPr>
          <a:xfrm>
            <a:off x="594360" y="5148072"/>
            <a:ext cx="13441680" cy="1783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con: selection-probability" descr="icon_selection-probability.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680" y="5422392"/>
            <a:ext cx="594360" cy="594360"/>
          </a:xfrm>
          <a:prstGeom prst="rect">
            <a:avLst/>
          </a:prstGeom>
        </p:spPr>
      </p:pic>
      <p:sp>
        <p:nvSpPr>
          <p:cNvPr id="24" name="TextBox 23"/>
          <p:cNvSpPr txBox="1"/>
          <p:nvPr/>
        </p:nvSpPr>
        <p:spPr>
          <a:xfrm>
            <a:off x="868680" y="6135624"/>
            <a:ext cx="3200400" cy="411480"/>
          </a:xfrm>
          <a:prstGeom prst="rect">
            <a:avLst/>
          </a:prstGeom>
          <a:noFill/>
        </p:spPr>
        <p:txBody>
          <a:bodyPr wrap="square" lIns="0" tIns="0" rIns="0" bIns="0">
            <a:spAutoFit/>
          </a:bodyPr>
          <a:lstStyle/>
          <a:p>
            <a:pPr>
              <a:spcBef>
                <a:spcPts val="0"/>
              </a:spcBef>
              <a:spcAft>
                <a:spcPts val="400"/>
              </a:spcAft>
              <a:defRPr sz="2100" b="1">
                <a:solidFill>
                  <a:srgbClr val="18343B"/>
                </a:solidFill>
                <a:latin typeface="Aptos"/>
              </a:defRPr>
            </a:pPr>
            <a:r>
              <a:t>Roulette sampling</a:t>
            </a:r>
          </a:p>
        </p:txBody>
      </p:sp>
      <p:sp>
        <p:nvSpPr>
          <p:cNvPr id="25" name="TextBox 24"/>
          <p:cNvSpPr txBox="1"/>
          <p:nvPr/>
        </p:nvSpPr>
        <p:spPr>
          <a:xfrm>
            <a:off x="4572000" y="5449824"/>
            <a:ext cx="8961120" cy="457200"/>
          </a:xfrm>
          <a:prstGeom prst="rect">
            <a:avLst/>
          </a:prstGeom>
          <a:noFill/>
        </p:spPr>
        <p:txBody>
          <a:bodyPr wrap="square" lIns="0" tIns="0" rIns="0" bIns="0">
            <a:spAutoFit/>
          </a:bodyPr>
          <a:lstStyle/>
          <a:p>
            <a:pPr>
              <a:spcBef>
                <a:spcPts val="0"/>
              </a:spcBef>
              <a:spcAft>
                <a:spcPts val="400"/>
              </a:spcAft>
              <a:defRPr sz="2600" b="1">
                <a:solidFill>
                  <a:srgbClr val="0A7EA4"/>
                </a:solidFill>
                <a:latin typeface="Aptos"/>
              </a:defRPr>
            </a:pPr>
            <a:r>
              <a:t>50 draws with replacement</a:t>
            </a:r>
          </a:p>
        </p:txBody>
      </p:sp>
      <p:sp>
        <p:nvSpPr>
          <p:cNvPr id="26" name="TextBox 25"/>
          <p:cNvSpPr txBox="1"/>
          <p:nvPr/>
        </p:nvSpPr>
        <p:spPr>
          <a:xfrm>
            <a:off x="4572000" y="6025896"/>
            <a:ext cx="8778240" cy="77724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Why: reward better candidates while keeping selection random.</a:t>
            </a:r>
          </a:p>
          <a:p>
            <a:pPr>
              <a:spcBef>
                <a:spcPts val="0"/>
              </a:spcBef>
              <a:spcAft>
                <a:spcPts val="400"/>
              </a:spcAft>
              <a:defRPr sz="2100" b="0">
                <a:solidFill>
                  <a:srgbClr val="18343B"/>
                </a:solidFill>
                <a:latin typeface="Aptos"/>
              </a:defRPr>
            </a:pPr>
            <a:r>
              <a:t>If every fitness is zero, choose uniformly at random.</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METHODS · ONE-POINT CROSSOVER</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Crossover: swap the second coordinate</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With two genes, there is exactly one cut point.</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09</a:t>
            </a:r>
          </a:p>
        </p:txBody>
      </p:sp>
      <p:sp>
        <p:nvSpPr>
          <p:cNvPr id="10" name="TextBox 9"/>
          <p:cNvSpPr txBox="1"/>
          <p:nvPr/>
        </p:nvSpPr>
        <p:spPr>
          <a:xfrm>
            <a:off x="960120" y="2734056"/>
            <a:ext cx="1097280" cy="365760"/>
          </a:xfrm>
          <a:prstGeom prst="rect">
            <a:avLst/>
          </a:prstGeom>
          <a:noFill/>
        </p:spPr>
        <p:txBody>
          <a:bodyPr wrap="square" lIns="0" tIns="0" rIns="0" bIns="0">
            <a:spAutoFit/>
          </a:bodyPr>
          <a:lstStyle/>
          <a:p>
            <a:pPr>
              <a:spcBef>
                <a:spcPts val="0"/>
              </a:spcBef>
              <a:spcAft>
                <a:spcPts val="400"/>
              </a:spcAft>
              <a:defRPr sz="2000" b="0">
                <a:solidFill>
                  <a:srgbClr val="596B70"/>
                </a:solidFill>
                <a:latin typeface="Aptos"/>
              </a:defRPr>
            </a:pPr>
            <a:r>
              <a:t>Parent A</a:t>
            </a:r>
          </a:p>
        </p:txBody>
      </p:sp>
      <p:sp>
        <p:nvSpPr>
          <p:cNvPr id="11" name="Rounded Rectangle 10"/>
          <p:cNvSpPr/>
          <p:nvPr/>
        </p:nvSpPr>
        <p:spPr>
          <a:xfrm>
            <a:off x="2148840" y="2606040"/>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21992" y="2724912"/>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A₁</a:t>
            </a:r>
          </a:p>
        </p:txBody>
      </p:sp>
      <p:sp>
        <p:nvSpPr>
          <p:cNvPr id="13" name="Rounded Rectangle 12"/>
          <p:cNvSpPr/>
          <p:nvPr/>
        </p:nvSpPr>
        <p:spPr>
          <a:xfrm>
            <a:off x="3840480" y="2606040"/>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13632" y="2724912"/>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A₂</a:t>
            </a:r>
          </a:p>
        </p:txBody>
      </p:sp>
      <p:sp>
        <p:nvSpPr>
          <p:cNvPr id="15" name="TextBox 14"/>
          <p:cNvSpPr txBox="1"/>
          <p:nvPr/>
        </p:nvSpPr>
        <p:spPr>
          <a:xfrm>
            <a:off x="960120" y="3785615"/>
            <a:ext cx="1097280" cy="365760"/>
          </a:xfrm>
          <a:prstGeom prst="rect">
            <a:avLst/>
          </a:prstGeom>
          <a:noFill/>
        </p:spPr>
        <p:txBody>
          <a:bodyPr wrap="square" lIns="0" tIns="0" rIns="0" bIns="0">
            <a:spAutoFit/>
          </a:bodyPr>
          <a:lstStyle/>
          <a:p>
            <a:pPr>
              <a:spcBef>
                <a:spcPts val="0"/>
              </a:spcBef>
              <a:spcAft>
                <a:spcPts val="400"/>
              </a:spcAft>
              <a:defRPr sz="2000" b="0">
                <a:solidFill>
                  <a:srgbClr val="596B70"/>
                </a:solidFill>
                <a:latin typeface="Aptos"/>
              </a:defRPr>
            </a:pPr>
            <a:r>
              <a:t>Parent B</a:t>
            </a:r>
          </a:p>
        </p:txBody>
      </p:sp>
      <p:sp>
        <p:nvSpPr>
          <p:cNvPr id="16" name="Rounded Rectangle 15"/>
          <p:cNvSpPr/>
          <p:nvPr/>
        </p:nvSpPr>
        <p:spPr>
          <a:xfrm>
            <a:off x="2148840" y="3657600"/>
            <a:ext cx="1554480" cy="612648"/>
          </a:xfrm>
          <a:prstGeom prst="roundRect">
            <a:avLst>
              <a:gd name="adj" fmla="val 7000"/>
            </a:avLst>
          </a:prstGeom>
          <a:solidFill>
            <a:srgbClr val="FFFFFF"/>
          </a:solidFill>
          <a:ln w="12700">
            <a:solidFill>
              <a:srgbClr val="B83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3776472"/>
            <a:ext cx="1408176" cy="365760"/>
          </a:xfrm>
          <a:prstGeom prst="rect">
            <a:avLst/>
          </a:prstGeom>
          <a:noFill/>
        </p:spPr>
        <p:txBody>
          <a:bodyPr wrap="square" lIns="0" tIns="0" rIns="0" bIns="0">
            <a:spAutoFit/>
          </a:bodyPr>
          <a:lstStyle/>
          <a:p>
            <a:pPr algn="ctr">
              <a:spcBef>
                <a:spcPts val="0"/>
              </a:spcBef>
              <a:spcAft>
                <a:spcPts val="400"/>
              </a:spcAft>
              <a:defRPr sz="2500" b="1">
                <a:solidFill>
                  <a:srgbClr val="B8318F"/>
                </a:solidFill>
                <a:latin typeface="Aptos"/>
              </a:defRPr>
            </a:pPr>
            <a:r>
              <a:t>B₁</a:t>
            </a:r>
          </a:p>
        </p:txBody>
      </p:sp>
      <p:sp>
        <p:nvSpPr>
          <p:cNvPr id="18" name="Rounded Rectangle 17"/>
          <p:cNvSpPr/>
          <p:nvPr/>
        </p:nvSpPr>
        <p:spPr>
          <a:xfrm>
            <a:off x="3840480" y="3657600"/>
            <a:ext cx="1554480" cy="612648"/>
          </a:xfrm>
          <a:prstGeom prst="roundRect">
            <a:avLst>
              <a:gd name="adj" fmla="val 7000"/>
            </a:avLst>
          </a:prstGeom>
          <a:solidFill>
            <a:srgbClr val="FFFFFF"/>
          </a:solidFill>
          <a:ln w="12700">
            <a:solidFill>
              <a:srgbClr val="B83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13632" y="3776472"/>
            <a:ext cx="1408176" cy="365760"/>
          </a:xfrm>
          <a:prstGeom prst="rect">
            <a:avLst/>
          </a:prstGeom>
          <a:noFill/>
        </p:spPr>
        <p:txBody>
          <a:bodyPr wrap="square" lIns="0" tIns="0" rIns="0" bIns="0">
            <a:spAutoFit/>
          </a:bodyPr>
          <a:lstStyle/>
          <a:p>
            <a:pPr algn="ctr">
              <a:spcBef>
                <a:spcPts val="0"/>
              </a:spcBef>
              <a:spcAft>
                <a:spcPts val="400"/>
              </a:spcAft>
              <a:defRPr sz="2500" b="1">
                <a:solidFill>
                  <a:srgbClr val="B8318F"/>
                </a:solidFill>
                <a:latin typeface="Aptos"/>
              </a:defRPr>
            </a:pPr>
            <a:r>
              <a:t>B₂</a:t>
            </a:r>
          </a:p>
        </p:txBody>
      </p:sp>
      <p:cxnSp>
        <p:nvCxnSpPr>
          <p:cNvPr id="20" name="Connector 19"/>
          <p:cNvCxnSpPr/>
          <p:nvPr/>
        </p:nvCxnSpPr>
        <p:spPr>
          <a:xfrm>
            <a:off x="6035040" y="3355848"/>
            <a:ext cx="2011680" cy="0"/>
          </a:xfrm>
          <a:prstGeom prst="line">
            <a:avLst/>
          </a:prstGeom>
          <a:ln w="381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0" y="2670048"/>
            <a:ext cx="2103120" cy="457200"/>
          </a:xfrm>
          <a:prstGeom prst="rect">
            <a:avLst/>
          </a:prstGeom>
          <a:noFill/>
        </p:spPr>
        <p:txBody>
          <a:bodyPr wrap="square" lIns="0" tIns="0" rIns="0" bIns="0">
            <a:spAutoFit/>
          </a:bodyPr>
          <a:lstStyle/>
          <a:p>
            <a:pPr algn="ctr">
              <a:spcBef>
                <a:spcPts val="0"/>
              </a:spcBef>
              <a:spcAft>
                <a:spcPts val="400"/>
              </a:spcAft>
              <a:defRPr sz="2400" b="1">
                <a:solidFill>
                  <a:srgbClr val="0A7EA4"/>
                </a:solidFill>
                <a:latin typeface="Aptos"/>
              </a:defRPr>
            </a:pPr>
            <a:r>
              <a:t>Pc = 0.80</a:t>
            </a:r>
          </a:p>
        </p:txBody>
      </p:sp>
      <p:sp>
        <p:nvSpPr>
          <p:cNvPr id="22" name="TextBox 21"/>
          <p:cNvSpPr txBox="1"/>
          <p:nvPr/>
        </p:nvSpPr>
        <p:spPr>
          <a:xfrm>
            <a:off x="8183879" y="2734056"/>
            <a:ext cx="1097280" cy="365760"/>
          </a:xfrm>
          <a:prstGeom prst="rect">
            <a:avLst/>
          </a:prstGeom>
          <a:noFill/>
        </p:spPr>
        <p:txBody>
          <a:bodyPr wrap="square" lIns="0" tIns="0" rIns="0" bIns="0">
            <a:spAutoFit/>
          </a:bodyPr>
          <a:lstStyle/>
          <a:p>
            <a:pPr>
              <a:spcBef>
                <a:spcPts val="0"/>
              </a:spcBef>
              <a:spcAft>
                <a:spcPts val="400"/>
              </a:spcAft>
              <a:defRPr sz="2000" b="0">
                <a:solidFill>
                  <a:srgbClr val="596B70"/>
                </a:solidFill>
                <a:latin typeface="Aptos"/>
              </a:defRPr>
            </a:pPr>
            <a:r>
              <a:t>Child 1</a:t>
            </a:r>
          </a:p>
        </p:txBody>
      </p:sp>
      <p:sp>
        <p:nvSpPr>
          <p:cNvPr id="23" name="Rounded Rectangle 22"/>
          <p:cNvSpPr/>
          <p:nvPr/>
        </p:nvSpPr>
        <p:spPr>
          <a:xfrm>
            <a:off x="9372600" y="2606040"/>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45752" y="2724912"/>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A₁</a:t>
            </a:r>
          </a:p>
        </p:txBody>
      </p:sp>
      <p:sp>
        <p:nvSpPr>
          <p:cNvPr id="25" name="Rounded Rectangle 24"/>
          <p:cNvSpPr/>
          <p:nvPr/>
        </p:nvSpPr>
        <p:spPr>
          <a:xfrm>
            <a:off x="11064240" y="2606040"/>
            <a:ext cx="1554480" cy="612648"/>
          </a:xfrm>
          <a:prstGeom prst="roundRect">
            <a:avLst>
              <a:gd name="adj" fmla="val 7000"/>
            </a:avLst>
          </a:prstGeom>
          <a:solidFill>
            <a:srgbClr val="FFFFFF"/>
          </a:solidFill>
          <a:ln w="12700">
            <a:solidFill>
              <a:srgbClr val="B83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37392" y="2724912"/>
            <a:ext cx="1408176" cy="365760"/>
          </a:xfrm>
          <a:prstGeom prst="rect">
            <a:avLst/>
          </a:prstGeom>
          <a:noFill/>
        </p:spPr>
        <p:txBody>
          <a:bodyPr wrap="square" lIns="0" tIns="0" rIns="0" bIns="0">
            <a:spAutoFit/>
          </a:bodyPr>
          <a:lstStyle/>
          <a:p>
            <a:pPr algn="ctr">
              <a:spcBef>
                <a:spcPts val="0"/>
              </a:spcBef>
              <a:spcAft>
                <a:spcPts val="400"/>
              </a:spcAft>
              <a:defRPr sz="2500" b="1">
                <a:solidFill>
                  <a:srgbClr val="B8318F"/>
                </a:solidFill>
                <a:latin typeface="Aptos"/>
              </a:defRPr>
            </a:pPr>
            <a:r>
              <a:t>B₂</a:t>
            </a:r>
          </a:p>
        </p:txBody>
      </p:sp>
      <p:sp>
        <p:nvSpPr>
          <p:cNvPr id="27" name="TextBox 26"/>
          <p:cNvSpPr txBox="1"/>
          <p:nvPr/>
        </p:nvSpPr>
        <p:spPr>
          <a:xfrm>
            <a:off x="8183879" y="3785615"/>
            <a:ext cx="1097280" cy="365760"/>
          </a:xfrm>
          <a:prstGeom prst="rect">
            <a:avLst/>
          </a:prstGeom>
          <a:noFill/>
        </p:spPr>
        <p:txBody>
          <a:bodyPr wrap="square" lIns="0" tIns="0" rIns="0" bIns="0">
            <a:spAutoFit/>
          </a:bodyPr>
          <a:lstStyle/>
          <a:p>
            <a:pPr>
              <a:spcBef>
                <a:spcPts val="0"/>
              </a:spcBef>
              <a:spcAft>
                <a:spcPts val="400"/>
              </a:spcAft>
              <a:defRPr sz="2000" b="0">
                <a:solidFill>
                  <a:srgbClr val="596B70"/>
                </a:solidFill>
                <a:latin typeface="Aptos"/>
              </a:defRPr>
            </a:pPr>
            <a:r>
              <a:t>Child 2</a:t>
            </a:r>
          </a:p>
        </p:txBody>
      </p:sp>
      <p:sp>
        <p:nvSpPr>
          <p:cNvPr id="28" name="Rounded Rectangle 27"/>
          <p:cNvSpPr/>
          <p:nvPr/>
        </p:nvSpPr>
        <p:spPr>
          <a:xfrm>
            <a:off x="9372600" y="3657600"/>
            <a:ext cx="1554480" cy="612648"/>
          </a:xfrm>
          <a:prstGeom prst="roundRect">
            <a:avLst>
              <a:gd name="adj" fmla="val 7000"/>
            </a:avLst>
          </a:prstGeom>
          <a:solidFill>
            <a:srgbClr val="FFFFFF"/>
          </a:solidFill>
          <a:ln w="12700">
            <a:solidFill>
              <a:srgbClr val="B83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45752" y="3776472"/>
            <a:ext cx="1408176" cy="365760"/>
          </a:xfrm>
          <a:prstGeom prst="rect">
            <a:avLst/>
          </a:prstGeom>
          <a:noFill/>
        </p:spPr>
        <p:txBody>
          <a:bodyPr wrap="square" lIns="0" tIns="0" rIns="0" bIns="0">
            <a:spAutoFit/>
          </a:bodyPr>
          <a:lstStyle/>
          <a:p>
            <a:pPr algn="ctr">
              <a:spcBef>
                <a:spcPts val="0"/>
              </a:spcBef>
              <a:spcAft>
                <a:spcPts val="400"/>
              </a:spcAft>
              <a:defRPr sz="2500" b="1">
                <a:solidFill>
                  <a:srgbClr val="B8318F"/>
                </a:solidFill>
                <a:latin typeface="Aptos"/>
              </a:defRPr>
            </a:pPr>
            <a:r>
              <a:t>B₁</a:t>
            </a:r>
          </a:p>
        </p:txBody>
      </p:sp>
      <p:sp>
        <p:nvSpPr>
          <p:cNvPr id="30" name="Rounded Rectangle 29"/>
          <p:cNvSpPr/>
          <p:nvPr/>
        </p:nvSpPr>
        <p:spPr>
          <a:xfrm>
            <a:off x="11064240" y="3657600"/>
            <a:ext cx="1554480" cy="612648"/>
          </a:xfrm>
          <a:prstGeom prst="roundRect">
            <a:avLst>
              <a:gd name="adj" fmla="val 7000"/>
            </a:avLst>
          </a:prstGeom>
          <a:solidFill>
            <a:srgbClr val="FFFFFF"/>
          </a:solidFill>
          <a:ln w="12700">
            <a:solidFill>
              <a:srgbClr val="0A7E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37392" y="3776472"/>
            <a:ext cx="1408176" cy="365760"/>
          </a:xfrm>
          <a:prstGeom prst="rect">
            <a:avLst/>
          </a:prstGeom>
          <a:noFill/>
        </p:spPr>
        <p:txBody>
          <a:bodyPr wrap="square" lIns="0" tIns="0" rIns="0" bIns="0">
            <a:spAutoFit/>
          </a:bodyPr>
          <a:lstStyle/>
          <a:p>
            <a:pPr algn="ctr">
              <a:spcBef>
                <a:spcPts val="0"/>
              </a:spcBef>
              <a:spcAft>
                <a:spcPts val="400"/>
              </a:spcAft>
              <a:defRPr sz="2500" b="1">
                <a:solidFill>
                  <a:srgbClr val="0A7EA4"/>
                </a:solidFill>
                <a:latin typeface="Aptos"/>
              </a:defRPr>
            </a:pPr>
            <a:r>
              <a:t>A₂</a:t>
            </a:r>
          </a:p>
        </p:txBody>
      </p:sp>
      <p:cxnSp>
        <p:nvCxnSpPr>
          <p:cNvPr id="32" name="Connector 31"/>
          <p:cNvCxnSpPr/>
          <p:nvPr/>
        </p:nvCxnSpPr>
        <p:spPr>
          <a:xfrm>
            <a:off x="3776472" y="2423160"/>
            <a:ext cx="0" cy="2011680"/>
          </a:xfrm>
          <a:prstGeom prst="line">
            <a:avLst/>
          </a:prstGeom>
          <a:ln w="25400">
            <a:solidFill>
              <a:srgbClr val="AF821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401568" y="4599432"/>
            <a:ext cx="777240" cy="365760"/>
          </a:xfrm>
          <a:prstGeom prst="rect">
            <a:avLst/>
          </a:prstGeom>
          <a:noFill/>
        </p:spPr>
        <p:txBody>
          <a:bodyPr wrap="square" lIns="0" tIns="0" rIns="0" bIns="0">
            <a:spAutoFit/>
          </a:bodyPr>
          <a:lstStyle/>
          <a:p>
            <a:pPr algn="ctr">
              <a:spcBef>
                <a:spcPts val="0"/>
              </a:spcBef>
              <a:spcAft>
                <a:spcPts val="400"/>
              </a:spcAft>
              <a:defRPr sz="2000" b="1">
                <a:solidFill>
                  <a:srgbClr val="AF821E"/>
                </a:solidFill>
                <a:latin typeface="Aptos"/>
              </a:defRPr>
            </a:pPr>
            <a:r>
              <a:t>cut</a:t>
            </a:r>
          </a:p>
        </p:txBody>
      </p:sp>
      <p:sp>
        <p:nvSpPr>
          <p:cNvPr id="34" name="Rounded Rectangle 33"/>
          <p:cNvSpPr/>
          <p:nvPr/>
        </p:nvSpPr>
        <p:spPr>
          <a:xfrm>
            <a:off x="594360" y="5376672"/>
            <a:ext cx="6492240" cy="1883664"/>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gene-swap" descr="icon_gene-swa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5577840"/>
            <a:ext cx="594360" cy="594360"/>
          </a:xfrm>
          <a:prstGeom prst="rect">
            <a:avLst/>
          </a:prstGeom>
        </p:spPr>
      </p:pic>
      <p:sp>
        <p:nvSpPr>
          <p:cNvPr id="36" name="TextBox 35"/>
          <p:cNvSpPr txBox="1"/>
          <p:nvPr/>
        </p:nvSpPr>
        <p:spPr>
          <a:xfrm>
            <a:off x="804672" y="6291072"/>
            <a:ext cx="607161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Why this method?</a:t>
            </a:r>
          </a:p>
        </p:txBody>
      </p:sp>
      <p:sp>
        <p:nvSpPr>
          <p:cNvPr id="37" name="TextBox 36"/>
          <p:cNvSpPr txBox="1"/>
          <p:nvPr/>
        </p:nvSpPr>
        <p:spPr>
          <a:xfrm>
            <a:off x="804672" y="6739128"/>
            <a:ext cx="6071616" cy="512064"/>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Simple coordinate recombination; preserves useful gene values.</a:t>
            </a:r>
          </a:p>
        </p:txBody>
      </p:sp>
      <p:sp>
        <p:nvSpPr>
          <p:cNvPr id="38" name="Rounded Rectangle 37"/>
          <p:cNvSpPr/>
          <p:nvPr/>
        </p:nvSpPr>
        <p:spPr>
          <a:xfrm>
            <a:off x="7543800" y="5376672"/>
            <a:ext cx="6492240" cy="1883664"/>
          </a:xfrm>
          <a:prstGeom prst="roundRect">
            <a:avLst>
              <a:gd name="adj" fmla="val 6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18120" y="5632704"/>
            <a:ext cx="5852160" cy="457200"/>
          </a:xfrm>
          <a:prstGeom prst="rect">
            <a:avLst/>
          </a:prstGeom>
          <a:noFill/>
        </p:spPr>
        <p:txBody>
          <a:bodyPr wrap="square" lIns="0" tIns="0" rIns="0" bIns="0">
            <a:spAutoFit/>
          </a:bodyPr>
          <a:lstStyle/>
          <a:p>
            <a:pPr>
              <a:spcBef>
                <a:spcPts val="0"/>
              </a:spcBef>
              <a:spcAft>
                <a:spcPts val="400"/>
              </a:spcAft>
              <a:defRPr sz="2500" b="1">
                <a:solidFill>
                  <a:srgbClr val="18343B"/>
                </a:solidFill>
                <a:latin typeface="Aptos"/>
              </a:defRPr>
            </a:pPr>
            <a:r>
              <a:t>What it cannot do</a:t>
            </a:r>
          </a:p>
        </p:txBody>
      </p:sp>
      <p:sp>
        <p:nvSpPr>
          <p:cNvPr id="40" name="TextBox 39"/>
          <p:cNvSpPr txBox="1"/>
          <p:nvPr/>
        </p:nvSpPr>
        <p:spPr>
          <a:xfrm>
            <a:off x="7818120" y="6199632"/>
            <a:ext cx="5806440" cy="822960"/>
          </a:xfrm>
          <a:prstGeom prst="rect">
            <a:avLst/>
          </a:prstGeom>
          <a:noFill/>
        </p:spPr>
        <p:txBody>
          <a:bodyPr wrap="square" lIns="0" tIns="0" rIns="0" bIns="0">
            <a:spAutoFit/>
          </a:bodyPr>
          <a:lstStyle/>
          <a:p>
            <a:pPr>
              <a:spcBef>
                <a:spcPts val="0"/>
              </a:spcBef>
              <a:spcAft>
                <a:spcPts val="400"/>
              </a:spcAft>
              <a:defRPr sz="2300" b="0">
                <a:solidFill>
                  <a:srgbClr val="596B70"/>
                </a:solidFill>
                <a:latin typeface="Aptos"/>
              </a:defRPr>
            </a:pPr>
            <a:r>
              <a:t>Create a new coordinate value.</a:t>
            </a:r>
          </a:p>
          <a:p>
            <a:pPr>
              <a:spcBef>
                <a:spcPts val="0"/>
              </a:spcBef>
              <a:spcAft>
                <a:spcPts val="400"/>
              </a:spcAft>
              <a:defRPr sz="2300" b="0">
                <a:solidFill>
                  <a:srgbClr val="596B70"/>
                </a:solidFill>
                <a:latin typeface="Aptos"/>
              </a:defRPr>
            </a:pPr>
            <a:r>
              <a:t>That job belongs to mutation.</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METHODS · GAUSSIAN MUTATION &amp; BOUNDS</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Mutation: introduce new coordinate values</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For each gene: mutate with Pm = 0.05; otherwise keep the original value.</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10</a:t>
            </a:r>
          </a:p>
        </p:txBody>
      </p:sp>
      <p:sp>
        <p:nvSpPr>
          <p:cNvPr id="10" name="TextBox 9"/>
          <p:cNvSpPr txBox="1"/>
          <p:nvPr/>
        </p:nvSpPr>
        <p:spPr>
          <a:xfrm>
            <a:off x="777240" y="2468880"/>
            <a:ext cx="5486400" cy="731520"/>
          </a:xfrm>
          <a:prstGeom prst="rect">
            <a:avLst/>
          </a:prstGeom>
          <a:noFill/>
        </p:spPr>
        <p:txBody>
          <a:bodyPr wrap="square" lIns="0" tIns="0" rIns="0" bIns="0">
            <a:spAutoFit/>
          </a:bodyPr>
          <a:lstStyle/>
          <a:p>
            <a:pPr>
              <a:spcBef>
                <a:spcPts val="0"/>
              </a:spcBef>
              <a:spcAft>
                <a:spcPts val="400"/>
              </a:spcAft>
              <a:defRPr sz="3900" b="1">
                <a:solidFill>
                  <a:srgbClr val="0A7EA4"/>
                </a:solidFill>
                <a:latin typeface="Cambria Math"/>
              </a:defRPr>
            </a:pPr>
            <a:r>
              <a:t>x′ = x + ε</a:t>
            </a:r>
          </a:p>
        </p:txBody>
      </p:sp>
      <p:sp>
        <p:nvSpPr>
          <p:cNvPr id="11" name="TextBox 10"/>
          <p:cNvSpPr txBox="1"/>
          <p:nvPr/>
        </p:nvSpPr>
        <p:spPr>
          <a:xfrm>
            <a:off x="777240" y="3429000"/>
            <a:ext cx="6035040" cy="640080"/>
          </a:xfrm>
          <a:prstGeom prst="rect">
            <a:avLst/>
          </a:prstGeom>
          <a:noFill/>
        </p:spPr>
        <p:txBody>
          <a:bodyPr wrap="square" lIns="0" tIns="0" rIns="0" bIns="0">
            <a:spAutoFit/>
          </a:bodyPr>
          <a:lstStyle/>
          <a:p>
            <a:pPr>
              <a:spcBef>
                <a:spcPts val="0"/>
              </a:spcBef>
              <a:spcAft>
                <a:spcPts val="400"/>
              </a:spcAft>
              <a:defRPr sz="2900" b="0">
                <a:solidFill>
                  <a:srgbClr val="18343B"/>
                </a:solidFill>
                <a:latin typeface="Cambria Math"/>
              </a:defRPr>
            </a:pPr>
            <a:r>
              <a:t>ε ∼ Normal(0, σ²),  σ = 1</a:t>
            </a:r>
          </a:p>
        </p:txBody>
      </p:sp>
      <p:sp>
        <p:nvSpPr>
          <p:cNvPr id="12" name="TextBox 11"/>
          <p:cNvSpPr txBox="1"/>
          <p:nvPr/>
        </p:nvSpPr>
        <p:spPr>
          <a:xfrm>
            <a:off x="777240" y="4718304"/>
            <a:ext cx="5943600" cy="457200"/>
          </a:xfrm>
          <a:prstGeom prst="rect">
            <a:avLst/>
          </a:prstGeom>
          <a:noFill/>
        </p:spPr>
        <p:txBody>
          <a:bodyPr wrap="square" lIns="0" tIns="0" rIns="0" bIns="0">
            <a:spAutoFit/>
          </a:bodyPr>
          <a:lstStyle/>
          <a:p>
            <a:pPr>
              <a:spcBef>
                <a:spcPts val="0"/>
              </a:spcBef>
              <a:spcAft>
                <a:spcPts val="400"/>
              </a:spcAft>
              <a:defRPr sz="2700" b="1">
                <a:solidFill>
                  <a:srgbClr val="18343B"/>
                </a:solidFill>
                <a:latin typeface="Aptos"/>
              </a:defRPr>
            </a:pPr>
            <a:r>
              <a:t>Why Gaussian?</a:t>
            </a:r>
          </a:p>
        </p:txBody>
      </p:sp>
      <p:sp>
        <p:nvSpPr>
          <p:cNvPr id="13" name="TextBox 12"/>
          <p:cNvSpPr txBox="1"/>
          <p:nvPr/>
        </p:nvSpPr>
        <p:spPr>
          <a:xfrm>
            <a:off x="777240" y="5330952"/>
            <a:ext cx="5806440" cy="1005840"/>
          </a:xfrm>
          <a:prstGeom prst="rect">
            <a:avLst/>
          </a:prstGeom>
          <a:noFill/>
        </p:spPr>
        <p:txBody>
          <a:bodyPr wrap="square" lIns="0" tIns="0" rIns="0" bIns="0">
            <a:spAutoFit/>
          </a:bodyPr>
          <a:lstStyle/>
          <a:p>
            <a:pPr>
              <a:spcBef>
                <a:spcPts val="0"/>
              </a:spcBef>
              <a:spcAft>
                <a:spcPts val="400"/>
              </a:spcAft>
              <a:defRPr sz="2400" b="0">
                <a:solidFill>
                  <a:srgbClr val="596B70"/>
                </a:solidFill>
                <a:latin typeface="Aptos"/>
              </a:defRPr>
            </a:pPr>
            <a:r>
              <a:t>Explore around the current point;</a:t>
            </a:r>
          </a:p>
          <a:p>
            <a:pPr>
              <a:spcBef>
                <a:spcPts val="0"/>
              </a:spcBef>
              <a:spcAft>
                <a:spcPts val="400"/>
              </a:spcAft>
              <a:defRPr sz="2400" b="0">
                <a:solidFill>
                  <a:srgbClr val="596B70"/>
                </a:solidFill>
                <a:latin typeface="Aptos"/>
              </a:defRPr>
            </a:pPr>
            <a:r>
              <a:t>occasionally take a larger step.</a:t>
            </a:r>
          </a:p>
        </p:txBody>
      </p:sp>
      <p:sp>
        <p:nvSpPr>
          <p:cNvPr id="14" name="Rounded Rectangle 13"/>
          <p:cNvSpPr/>
          <p:nvPr/>
        </p:nvSpPr>
        <p:spPr>
          <a:xfrm>
            <a:off x="7315200" y="2331720"/>
            <a:ext cx="6720840" cy="448056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7863840" y="5029200"/>
            <a:ext cx="5623560" cy="0"/>
          </a:xfrm>
          <a:prstGeom prst="line">
            <a:avLst/>
          </a:prstGeom>
          <a:ln w="19050">
            <a:solidFill>
              <a:srgbClr val="D8DF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955279" y="5001926"/>
            <a:ext cx="68580" cy="543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023859" y="4995331"/>
            <a:ext cx="68581" cy="659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92440" y="4987377"/>
            <a:ext cx="68579" cy="795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161019" y="4977846"/>
            <a:ext cx="68581" cy="953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229600" y="4966496"/>
            <a:ext cx="68579" cy="1135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298179" y="4953066"/>
            <a:ext cx="68580" cy="134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66759" y="4937279"/>
            <a:ext cx="68581" cy="15787"/>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435340" y="4918841"/>
            <a:ext cx="68579" cy="1843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503919" y="4897447"/>
            <a:ext cx="68581" cy="2139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72500" y="4872789"/>
            <a:ext cx="68580" cy="2465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641080" y="4844557"/>
            <a:ext cx="68579" cy="28232"/>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709659" y="4812451"/>
            <a:ext cx="68581" cy="3210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778240" y="4776191"/>
            <a:ext cx="68579" cy="3626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846819" y="4735521"/>
            <a:ext cx="68581" cy="4067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915400" y="4690225"/>
            <a:ext cx="68580" cy="4529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983980" y="4640139"/>
            <a:ext cx="68579" cy="5008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052559" y="4585156"/>
            <a:ext cx="68581" cy="5498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121140" y="4525245"/>
            <a:ext cx="68579" cy="5991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189719" y="4460459"/>
            <a:ext cx="68581" cy="6478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258300" y="4390946"/>
            <a:ext cx="68580" cy="6951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326880" y="4316953"/>
            <a:ext cx="68579" cy="7399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395459" y="4238842"/>
            <a:ext cx="68581" cy="7811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464040" y="4157083"/>
            <a:ext cx="68579" cy="8175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532619" y="4072264"/>
            <a:ext cx="68581" cy="8481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601200" y="3985086"/>
            <a:ext cx="68580" cy="8717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669780" y="3896356"/>
            <a:ext cx="68579" cy="887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738359" y="3806980"/>
            <a:ext cx="68581" cy="8937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806940" y="3717950"/>
            <a:ext cx="68579" cy="890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875519" y="3630325"/>
            <a:ext cx="68581" cy="8762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944100" y="3545215"/>
            <a:ext cx="68580" cy="8511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012680" y="3463758"/>
            <a:ext cx="68579" cy="81457"/>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081259" y="3387092"/>
            <a:ext cx="68581" cy="7666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149840" y="3316333"/>
            <a:ext cx="68579" cy="7075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218419" y="3252548"/>
            <a:ext cx="68581" cy="6378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287000" y="3196723"/>
            <a:ext cx="68580" cy="5582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355580" y="3149747"/>
            <a:ext cx="68579" cy="4697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0424159" y="3112378"/>
            <a:ext cx="68581" cy="3736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492740" y="3085233"/>
            <a:ext cx="68579" cy="2714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0561319" y="3068761"/>
            <a:ext cx="68581" cy="16472"/>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0629900" y="3063240"/>
            <a:ext cx="68580" cy="552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698480" y="3063240"/>
            <a:ext cx="68579" cy="552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767059" y="3068761"/>
            <a:ext cx="68581" cy="16472"/>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835640" y="3085233"/>
            <a:ext cx="68579" cy="2714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904219" y="3112378"/>
            <a:ext cx="68581" cy="3736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972800" y="3149747"/>
            <a:ext cx="68580" cy="4697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1041380" y="3196723"/>
            <a:ext cx="68579" cy="5582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09959" y="3252548"/>
            <a:ext cx="68581" cy="6378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178540" y="3316333"/>
            <a:ext cx="68579" cy="7075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247119" y="3387092"/>
            <a:ext cx="68581" cy="7666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315700" y="3463758"/>
            <a:ext cx="68580" cy="81457"/>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384280" y="3545215"/>
            <a:ext cx="68579" cy="8511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1452859" y="3630325"/>
            <a:ext cx="68581" cy="8762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1521440" y="3717950"/>
            <a:ext cx="68579" cy="890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1590019" y="3806980"/>
            <a:ext cx="68581" cy="8937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1658600" y="3896356"/>
            <a:ext cx="68580" cy="887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1727180" y="3985086"/>
            <a:ext cx="68579" cy="8717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1795759" y="4072264"/>
            <a:ext cx="68581" cy="8481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864340" y="4157083"/>
            <a:ext cx="68579" cy="81759"/>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1932919" y="4238842"/>
            <a:ext cx="68581" cy="7811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2001500" y="4316953"/>
            <a:ext cx="68580" cy="7399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2070080" y="4390946"/>
            <a:ext cx="68579" cy="6951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2138659" y="4460459"/>
            <a:ext cx="68581" cy="6478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207240" y="4525245"/>
            <a:ext cx="68579" cy="5991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2275819" y="4585156"/>
            <a:ext cx="68581" cy="54983"/>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2344400" y="4640139"/>
            <a:ext cx="68580" cy="5008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2412980" y="4690225"/>
            <a:ext cx="68579" cy="4529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2481559" y="4735521"/>
            <a:ext cx="68581" cy="4067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2550140" y="4776191"/>
            <a:ext cx="68579" cy="3626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2618719" y="4812451"/>
            <a:ext cx="68581" cy="32106"/>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2687300" y="4844557"/>
            <a:ext cx="68580" cy="28232"/>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2755880" y="4872789"/>
            <a:ext cx="68579" cy="2465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2824459" y="4897447"/>
            <a:ext cx="68581" cy="2139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2893040" y="4918841"/>
            <a:ext cx="68579" cy="18438"/>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2961619" y="4937279"/>
            <a:ext cx="68581" cy="15787"/>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3030200" y="4953066"/>
            <a:ext cx="68580" cy="1343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3098780" y="4966496"/>
            <a:ext cx="68579" cy="11350"/>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3167359" y="4977846"/>
            <a:ext cx="68581" cy="9531"/>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235940" y="4987377"/>
            <a:ext cx="68579" cy="795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304519" y="4995331"/>
            <a:ext cx="68581" cy="6595"/>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3373100" y="5001926"/>
            <a:ext cx="68580" cy="5434"/>
          </a:xfrm>
          <a:prstGeom prst="line">
            <a:avLst/>
          </a:prstGeom>
          <a:ln w="34290">
            <a:solidFill>
              <a:srgbClr val="0A7EA4"/>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635240" y="5239512"/>
            <a:ext cx="1097280" cy="365760"/>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−3σ</a:t>
            </a:r>
          </a:p>
        </p:txBody>
      </p:sp>
      <p:sp>
        <p:nvSpPr>
          <p:cNvPr id="97" name="TextBox 96"/>
          <p:cNvSpPr txBox="1"/>
          <p:nvPr/>
        </p:nvSpPr>
        <p:spPr>
          <a:xfrm>
            <a:off x="10469880" y="5239512"/>
            <a:ext cx="457200" cy="365760"/>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0</a:t>
            </a:r>
          </a:p>
        </p:txBody>
      </p:sp>
      <p:sp>
        <p:nvSpPr>
          <p:cNvPr id="98" name="TextBox 97"/>
          <p:cNvSpPr txBox="1"/>
          <p:nvPr/>
        </p:nvSpPr>
        <p:spPr>
          <a:xfrm>
            <a:off x="12847320" y="5239512"/>
            <a:ext cx="1097280" cy="365760"/>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+3σ</a:t>
            </a:r>
          </a:p>
        </p:txBody>
      </p:sp>
      <p:sp>
        <p:nvSpPr>
          <p:cNvPr id="99" name="TextBox 98"/>
          <p:cNvSpPr txBox="1"/>
          <p:nvPr/>
        </p:nvSpPr>
        <p:spPr>
          <a:xfrm>
            <a:off x="7818120" y="5907024"/>
            <a:ext cx="5852160" cy="640080"/>
          </a:xfrm>
          <a:prstGeom prst="rect">
            <a:avLst/>
          </a:prstGeom>
          <a:noFill/>
        </p:spPr>
        <p:txBody>
          <a:bodyPr wrap="square" lIns="0" tIns="0" rIns="0" bIns="0">
            <a:spAutoFit/>
          </a:bodyPr>
          <a:lstStyle/>
          <a:p>
            <a:pPr>
              <a:spcBef>
                <a:spcPts val="0"/>
              </a:spcBef>
              <a:spcAft>
                <a:spcPts val="400"/>
              </a:spcAft>
              <a:defRPr sz="2100" b="1">
                <a:solidFill>
                  <a:srgbClr val="C4671A"/>
                </a:solidFill>
                <a:latin typeface="Aptos"/>
              </a:defRPr>
            </a:pPr>
            <a:r>
              <a:t>Out of bounds? Resample in [−5, 5].</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METHODS · ELITISM &amp; STOPPING</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Protect the best—and know when to stop</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Two stopping checks limit wasted work; neither proves the exact optimum has been found.</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11</a:t>
            </a:r>
          </a:p>
        </p:txBody>
      </p:sp>
      <p:sp>
        <p:nvSpPr>
          <p:cNvPr id="10" name="Rounded Rectangle 9"/>
          <p:cNvSpPr/>
          <p:nvPr/>
        </p:nvSpPr>
        <p:spPr>
          <a:xfrm>
            <a:off x="594360" y="2286000"/>
            <a:ext cx="4297680" cy="27706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preserve-best" descr="icon_preserve-bes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487168"/>
            <a:ext cx="594360" cy="594360"/>
          </a:xfrm>
          <a:prstGeom prst="rect">
            <a:avLst/>
          </a:prstGeom>
        </p:spPr>
      </p:pic>
      <p:sp>
        <p:nvSpPr>
          <p:cNvPr id="12" name="TextBox 11"/>
          <p:cNvSpPr txBox="1"/>
          <p:nvPr/>
        </p:nvSpPr>
        <p:spPr>
          <a:xfrm>
            <a:off x="804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Keep one elite</a:t>
            </a:r>
          </a:p>
        </p:txBody>
      </p:sp>
      <p:sp>
        <p:nvSpPr>
          <p:cNvPr id="13" name="TextBox 12"/>
          <p:cNvSpPr txBox="1"/>
          <p:nvPr/>
        </p:nvSpPr>
        <p:spPr>
          <a:xfrm>
            <a:off x="804672" y="3648456"/>
            <a:ext cx="3877056" cy="1399031"/>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Replace the worst child only if the saved elite is better.</a:t>
            </a:r>
          </a:p>
        </p:txBody>
      </p:sp>
      <p:sp>
        <p:nvSpPr>
          <p:cNvPr id="14" name="Rounded Rectangle 13"/>
          <p:cNvSpPr/>
          <p:nvPr/>
        </p:nvSpPr>
        <p:spPr>
          <a:xfrm>
            <a:off x="5166360" y="2286000"/>
            <a:ext cx="4297680" cy="27706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max-generations" descr="icon_max-generations.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76672" y="2487168"/>
            <a:ext cx="594360" cy="594360"/>
          </a:xfrm>
          <a:prstGeom prst="rect">
            <a:avLst/>
          </a:prstGeom>
        </p:spPr>
      </p:pic>
      <p:sp>
        <p:nvSpPr>
          <p:cNvPr id="16" name="TextBox 15"/>
          <p:cNvSpPr txBox="1"/>
          <p:nvPr/>
        </p:nvSpPr>
        <p:spPr>
          <a:xfrm>
            <a:off x="5376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100 generations</a:t>
            </a:r>
          </a:p>
        </p:txBody>
      </p:sp>
      <p:sp>
        <p:nvSpPr>
          <p:cNvPr id="17" name="TextBox 16"/>
          <p:cNvSpPr txBox="1"/>
          <p:nvPr/>
        </p:nvSpPr>
        <p:spPr>
          <a:xfrm>
            <a:off x="5376672" y="3648456"/>
            <a:ext cx="3877056" cy="1399031"/>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A fixed upper bound on the run length.</a:t>
            </a:r>
          </a:p>
        </p:txBody>
      </p:sp>
      <p:sp>
        <p:nvSpPr>
          <p:cNvPr id="18" name="Rounded Rectangle 17"/>
          <p:cNvSpPr/>
          <p:nvPr/>
        </p:nvSpPr>
        <p:spPr>
          <a:xfrm>
            <a:off x="9738360" y="2286000"/>
            <a:ext cx="4297680" cy="27706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stagnation-pause" descr="icon_stagnation-paus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48672" y="2487168"/>
            <a:ext cx="594360" cy="594360"/>
          </a:xfrm>
          <a:prstGeom prst="rect">
            <a:avLst/>
          </a:prstGeom>
        </p:spPr>
      </p:pic>
      <p:sp>
        <p:nvSpPr>
          <p:cNvPr id="20" name="TextBox 19"/>
          <p:cNvSpPr txBox="1"/>
          <p:nvPr/>
        </p:nvSpPr>
        <p:spPr>
          <a:xfrm>
            <a:off x="9948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30 stagnant generations</a:t>
            </a:r>
          </a:p>
        </p:txBody>
      </p:sp>
      <p:sp>
        <p:nvSpPr>
          <p:cNvPr id="21" name="TextBox 20"/>
          <p:cNvSpPr txBox="1"/>
          <p:nvPr/>
        </p:nvSpPr>
        <p:spPr>
          <a:xfrm>
            <a:off x="9948672" y="3648456"/>
            <a:ext cx="3877056" cy="1399031"/>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Stop if no improvement &gt; 10⁻¹² persists for 30 generations.</a:t>
            </a:r>
          </a:p>
        </p:txBody>
      </p:sp>
      <p:sp>
        <p:nvSpPr>
          <p:cNvPr id="22" name="TextBox 21"/>
          <p:cNvSpPr txBox="1"/>
          <p:nvPr/>
        </p:nvSpPr>
        <p:spPr>
          <a:xfrm>
            <a:off x="868680" y="5431536"/>
            <a:ext cx="3767328" cy="804672"/>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Why: preserve progress.</a:t>
            </a:r>
          </a:p>
        </p:txBody>
      </p:sp>
      <p:sp>
        <p:nvSpPr>
          <p:cNvPr id="23" name="TextBox 22"/>
          <p:cNvSpPr txBox="1"/>
          <p:nvPr/>
        </p:nvSpPr>
        <p:spPr>
          <a:xfrm>
            <a:off x="5440680" y="5431536"/>
            <a:ext cx="3767328" cy="804672"/>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Why: control computation.</a:t>
            </a:r>
          </a:p>
        </p:txBody>
      </p:sp>
      <p:sp>
        <p:nvSpPr>
          <p:cNvPr id="24" name="TextBox 23"/>
          <p:cNvSpPr txBox="1"/>
          <p:nvPr/>
        </p:nvSpPr>
        <p:spPr>
          <a:xfrm>
            <a:off x="10012680" y="5431536"/>
            <a:ext cx="3767328" cy="804672"/>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Why: end an unproductive run.</a:t>
            </a:r>
          </a:p>
        </p:txBody>
      </p:sp>
      <p:sp>
        <p:nvSpPr>
          <p:cNvPr id="25" name="Rounded Rectangle 24"/>
          <p:cNvSpPr/>
          <p:nvPr/>
        </p:nvSpPr>
        <p:spPr>
          <a:xfrm>
            <a:off x="594360" y="6510528"/>
            <a:ext cx="13441680" cy="731520"/>
          </a:xfrm>
          <a:prstGeom prst="roundRect">
            <a:avLst>
              <a:gd name="adj" fmla="val 5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6684264"/>
            <a:ext cx="12801600" cy="36576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f(x) &lt; 0.001 is a reporting threshold in this project, not an early-stop rule.</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ALGORITHM MAP</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The complete GA flow</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Initialization happens once; the remaining stages repeat.</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12</a:t>
            </a:r>
          </a:p>
        </p:txBody>
      </p:sp>
      <p:sp>
        <p:nvSpPr>
          <p:cNvPr id="10" name="Rounded Rectangle 9"/>
          <p:cNvSpPr/>
          <p:nvPr/>
        </p:nvSpPr>
        <p:spPr>
          <a:xfrm>
            <a:off x="960120" y="246888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33856" y="267004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74320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1</a:t>
            </a:r>
          </a:p>
        </p:txBody>
      </p:sp>
      <p:sp>
        <p:nvSpPr>
          <p:cNvPr id="13" name="TextBox 12"/>
          <p:cNvSpPr txBox="1"/>
          <p:nvPr/>
        </p:nvSpPr>
        <p:spPr>
          <a:xfrm>
            <a:off x="1856232" y="281635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Initialize</a:t>
            </a:r>
          </a:p>
        </p:txBody>
      </p:sp>
      <p:sp>
        <p:nvSpPr>
          <p:cNvPr id="14" name="Rounded Rectangle 13"/>
          <p:cNvSpPr/>
          <p:nvPr/>
        </p:nvSpPr>
        <p:spPr>
          <a:xfrm>
            <a:off x="4251960" y="246888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425696" y="267004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74320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2</a:t>
            </a:r>
          </a:p>
        </p:txBody>
      </p:sp>
      <p:sp>
        <p:nvSpPr>
          <p:cNvPr id="17" name="TextBox 16"/>
          <p:cNvSpPr txBox="1"/>
          <p:nvPr/>
        </p:nvSpPr>
        <p:spPr>
          <a:xfrm>
            <a:off x="5148072" y="281635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Evaluate</a:t>
            </a:r>
          </a:p>
        </p:txBody>
      </p:sp>
      <p:sp>
        <p:nvSpPr>
          <p:cNvPr id="18" name="Rounded Rectangle 17"/>
          <p:cNvSpPr/>
          <p:nvPr/>
        </p:nvSpPr>
        <p:spPr>
          <a:xfrm>
            <a:off x="7543800" y="246888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17536" y="267004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79" y="274320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3</a:t>
            </a:r>
          </a:p>
        </p:txBody>
      </p:sp>
      <p:sp>
        <p:nvSpPr>
          <p:cNvPr id="21" name="TextBox 20"/>
          <p:cNvSpPr txBox="1"/>
          <p:nvPr/>
        </p:nvSpPr>
        <p:spPr>
          <a:xfrm>
            <a:off x="8439912" y="281635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Select</a:t>
            </a:r>
          </a:p>
        </p:txBody>
      </p:sp>
      <p:sp>
        <p:nvSpPr>
          <p:cNvPr id="22" name="Rounded Rectangle 21"/>
          <p:cNvSpPr/>
          <p:nvPr/>
        </p:nvSpPr>
        <p:spPr>
          <a:xfrm>
            <a:off x="10835640" y="246888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009376" y="267004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018519" y="274320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4</a:t>
            </a:r>
          </a:p>
        </p:txBody>
      </p:sp>
      <p:sp>
        <p:nvSpPr>
          <p:cNvPr id="25" name="TextBox 24"/>
          <p:cNvSpPr txBox="1"/>
          <p:nvPr/>
        </p:nvSpPr>
        <p:spPr>
          <a:xfrm>
            <a:off x="11731752" y="281635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Crossover</a:t>
            </a:r>
          </a:p>
        </p:txBody>
      </p:sp>
      <p:sp>
        <p:nvSpPr>
          <p:cNvPr id="26" name="Rounded Rectangle 25"/>
          <p:cNvSpPr/>
          <p:nvPr/>
        </p:nvSpPr>
        <p:spPr>
          <a:xfrm>
            <a:off x="4251960" y="507492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425696" y="527608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34840" y="534924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7</a:t>
            </a:r>
          </a:p>
        </p:txBody>
      </p:sp>
      <p:sp>
        <p:nvSpPr>
          <p:cNvPr id="29" name="TextBox 28"/>
          <p:cNvSpPr txBox="1"/>
          <p:nvPr/>
        </p:nvSpPr>
        <p:spPr>
          <a:xfrm>
            <a:off x="5148072" y="542239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Commit</a:t>
            </a:r>
          </a:p>
        </p:txBody>
      </p:sp>
      <p:sp>
        <p:nvSpPr>
          <p:cNvPr id="30" name="Rounded Rectangle 29"/>
          <p:cNvSpPr/>
          <p:nvPr/>
        </p:nvSpPr>
        <p:spPr>
          <a:xfrm>
            <a:off x="7543800" y="507492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717536" y="527608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26679" y="534924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6</a:t>
            </a:r>
          </a:p>
        </p:txBody>
      </p:sp>
      <p:sp>
        <p:nvSpPr>
          <p:cNvPr id="33" name="TextBox 32"/>
          <p:cNvSpPr txBox="1"/>
          <p:nvPr/>
        </p:nvSpPr>
        <p:spPr>
          <a:xfrm>
            <a:off x="8439912" y="542239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Elitism</a:t>
            </a:r>
          </a:p>
        </p:txBody>
      </p:sp>
      <p:sp>
        <p:nvSpPr>
          <p:cNvPr id="34" name="Rounded Rectangle 33"/>
          <p:cNvSpPr/>
          <p:nvPr/>
        </p:nvSpPr>
        <p:spPr>
          <a:xfrm>
            <a:off x="10835640" y="5074920"/>
            <a:ext cx="2468880" cy="1051560"/>
          </a:xfrm>
          <a:prstGeom prst="roundRect">
            <a:avLst>
              <a:gd name="adj" fmla="val 8000"/>
            </a:avLst>
          </a:prstGeom>
          <a:solidFill>
            <a:srgbClr val="FFFFFF"/>
          </a:solidFill>
          <a:ln w="12700">
            <a:solidFill>
              <a:srgbClr val="D8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1009376" y="5276088"/>
            <a:ext cx="585216" cy="585216"/>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018519" y="5349240"/>
            <a:ext cx="566928" cy="365760"/>
          </a:xfrm>
          <a:prstGeom prst="rect">
            <a:avLst/>
          </a:prstGeom>
          <a:noFill/>
        </p:spPr>
        <p:txBody>
          <a:bodyPr wrap="square" lIns="0" tIns="0" rIns="0" bIns="0">
            <a:spAutoFit/>
          </a:bodyPr>
          <a:lstStyle/>
          <a:p>
            <a:pPr algn="ctr">
              <a:spcBef>
                <a:spcPts val="0"/>
              </a:spcBef>
              <a:spcAft>
                <a:spcPts val="400"/>
              </a:spcAft>
              <a:defRPr sz="2300" b="1">
                <a:solidFill>
                  <a:srgbClr val="FFFFFF"/>
                </a:solidFill>
                <a:latin typeface="Aptos"/>
              </a:defRPr>
            </a:pPr>
            <a:r>
              <a:t>5</a:t>
            </a:r>
          </a:p>
        </p:txBody>
      </p:sp>
      <p:sp>
        <p:nvSpPr>
          <p:cNvPr id="37" name="TextBox 36"/>
          <p:cNvSpPr txBox="1"/>
          <p:nvPr/>
        </p:nvSpPr>
        <p:spPr>
          <a:xfrm>
            <a:off x="11731752" y="5422392"/>
            <a:ext cx="1481328" cy="457200"/>
          </a:xfrm>
          <a:prstGeom prst="rect">
            <a:avLst/>
          </a:prstGeom>
          <a:noFill/>
        </p:spPr>
        <p:txBody>
          <a:bodyPr wrap="square" lIns="0" tIns="0" rIns="0" bIns="0">
            <a:spAutoFit/>
          </a:bodyPr>
          <a:lstStyle/>
          <a:p>
            <a:pPr>
              <a:spcBef>
                <a:spcPts val="0"/>
              </a:spcBef>
              <a:spcAft>
                <a:spcPts val="400"/>
              </a:spcAft>
              <a:defRPr sz="2200" b="1">
                <a:solidFill>
                  <a:srgbClr val="18343B"/>
                </a:solidFill>
                <a:latin typeface="Aptos"/>
              </a:defRPr>
            </a:pPr>
            <a:r>
              <a:t>Mutate</a:t>
            </a:r>
          </a:p>
        </p:txBody>
      </p:sp>
      <p:cxnSp>
        <p:nvCxnSpPr>
          <p:cNvPr id="38" name="Connector 37"/>
          <p:cNvCxnSpPr/>
          <p:nvPr/>
        </p:nvCxnSpPr>
        <p:spPr>
          <a:xfrm>
            <a:off x="3456432" y="2990088"/>
            <a:ext cx="704088"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748272" y="2990088"/>
            <a:ext cx="704088"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40112" y="2990088"/>
            <a:ext cx="704088"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070080" y="3566160"/>
            <a:ext cx="0" cy="141732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0104120" y="5596128"/>
            <a:ext cx="640080"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812280" y="5596128"/>
            <a:ext cx="640080" cy="0"/>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486400" y="3822191"/>
            <a:ext cx="0" cy="1188721"/>
          </a:xfrm>
          <a:prstGeom prst="line">
            <a:avLst/>
          </a:prstGeom>
          <a:ln w="25400">
            <a:solidFill>
              <a:srgbClr val="0A7EA4"/>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60720" y="4288536"/>
            <a:ext cx="1463040" cy="365760"/>
          </a:xfrm>
          <a:prstGeom prst="rect">
            <a:avLst/>
          </a:prstGeom>
          <a:noFill/>
        </p:spPr>
        <p:txBody>
          <a:bodyPr wrap="square" lIns="0" tIns="0" rIns="0" bIns="0">
            <a:spAutoFit/>
          </a:bodyPr>
          <a:lstStyle/>
          <a:p>
            <a:pPr>
              <a:spcBef>
                <a:spcPts val="0"/>
              </a:spcBef>
              <a:spcAft>
                <a:spcPts val="400"/>
              </a:spcAft>
              <a:defRPr sz="1800" b="0">
                <a:solidFill>
                  <a:srgbClr val="0A7EA4"/>
                </a:solidFill>
                <a:latin typeface="Aptos"/>
              </a:defRPr>
            </a:pPr>
            <a:r>
              <a:t>repeat</a:t>
            </a:r>
          </a:p>
        </p:txBody>
      </p:sp>
      <p:sp>
        <p:nvSpPr>
          <p:cNvPr id="46" name="Rounded Rectangle 45"/>
          <p:cNvSpPr/>
          <p:nvPr/>
        </p:nvSpPr>
        <p:spPr>
          <a:xfrm>
            <a:off x="594360" y="5047488"/>
            <a:ext cx="2834640" cy="1572768"/>
          </a:xfrm>
          <a:prstGeom prst="roundRect">
            <a:avLst>
              <a:gd name="adj" fmla="val 6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5321808"/>
            <a:ext cx="2377440" cy="731520"/>
          </a:xfrm>
          <a:prstGeom prst="rect">
            <a:avLst/>
          </a:prstGeom>
          <a:noFill/>
        </p:spPr>
        <p:txBody>
          <a:bodyPr wrap="square" lIns="0" tIns="0" rIns="0" bIns="0">
            <a:spAutoFit/>
          </a:bodyPr>
          <a:lstStyle/>
          <a:p>
            <a:pPr>
              <a:spcBef>
                <a:spcPts val="0"/>
              </a:spcBef>
              <a:spcAft>
                <a:spcPts val="400"/>
              </a:spcAft>
              <a:defRPr sz="2400" b="1">
                <a:solidFill>
                  <a:srgbClr val="0A7EA4"/>
                </a:solidFill>
                <a:latin typeface="Aptos"/>
              </a:defRPr>
            </a:pPr>
            <a:r>
              <a:t>STOP → report best</a:t>
            </a:r>
          </a:p>
        </p:txBody>
      </p:sp>
      <p:sp>
        <p:nvSpPr>
          <p:cNvPr id="48" name="TextBox 47"/>
          <p:cNvSpPr txBox="1"/>
          <p:nvPr/>
        </p:nvSpPr>
        <p:spPr>
          <a:xfrm>
            <a:off x="822960" y="6126480"/>
            <a:ext cx="2423160" cy="320040"/>
          </a:xfrm>
          <a:prstGeom prst="rect">
            <a:avLst/>
          </a:prstGeom>
          <a:noFill/>
        </p:spPr>
        <p:txBody>
          <a:bodyPr wrap="square" lIns="0" tIns="0" rIns="0" bIns="0">
            <a:spAutoFit/>
          </a:bodyPr>
          <a:lstStyle/>
          <a:p>
            <a:pPr>
              <a:spcBef>
                <a:spcPts val="0"/>
              </a:spcBef>
              <a:spcAft>
                <a:spcPts val="400"/>
              </a:spcAft>
              <a:defRPr sz="1600" b="0">
                <a:solidFill>
                  <a:srgbClr val="596B70"/>
                </a:solidFill>
                <a:latin typeface="Aptos"/>
              </a:defRPr>
            </a:pPr>
            <a:r>
              <a:t>Budget or stagnation</a:t>
            </a:r>
          </a:p>
        </p:txBody>
      </p:sp>
      <p:cxnSp>
        <p:nvCxnSpPr>
          <p:cNvPr id="49" name="Connector 48"/>
          <p:cNvCxnSpPr/>
          <p:nvPr/>
        </p:nvCxnSpPr>
        <p:spPr>
          <a:xfrm flipH="1">
            <a:off x="2011680" y="3566160"/>
            <a:ext cx="2240280" cy="1371600"/>
          </a:xfrm>
          <a:prstGeom prst="line">
            <a:avLst/>
          </a:prstGeom>
          <a:ln w="21590">
            <a:solidFill>
              <a:srgbClr val="C4671A"/>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874519" y="3776472"/>
            <a:ext cx="2423160" cy="457200"/>
          </a:xfrm>
          <a:prstGeom prst="rect">
            <a:avLst/>
          </a:prstGeom>
          <a:noFill/>
        </p:spPr>
        <p:txBody>
          <a:bodyPr wrap="square" lIns="0" tIns="0" rIns="0" bIns="0">
            <a:spAutoFit/>
          </a:bodyPr>
          <a:lstStyle/>
          <a:p>
            <a:pPr>
              <a:spcBef>
                <a:spcPts val="0"/>
              </a:spcBef>
              <a:spcAft>
                <a:spcPts val="400"/>
              </a:spcAft>
              <a:defRPr sz="1800" b="0">
                <a:solidFill>
                  <a:srgbClr val="C4671A"/>
                </a:solidFill>
                <a:latin typeface="Aptos"/>
              </a:defRPr>
            </a:pPr>
            <a:r>
              <a:t>check criteria</a:t>
            </a:r>
          </a:p>
        </p:txBody>
      </p:sp>
      <p:sp>
        <p:nvSpPr>
          <p:cNvPr id="51" name="TextBox 50"/>
          <p:cNvSpPr txBox="1"/>
          <p:nvPr/>
        </p:nvSpPr>
        <p:spPr>
          <a:xfrm>
            <a:off x="777240" y="7031736"/>
            <a:ext cx="13258800" cy="457200"/>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Evaluate → transform fitness → save elite → select → cross → mutate + repair → elitism → commit</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1 · Initialize 50 candidate points</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13</a:t>
            </a:r>
          </a:p>
        </p:txBody>
      </p:sp>
      <p:sp>
        <p:nvSpPr>
          <p:cNvPr id="10" name="Rounded Rectangle 9"/>
          <p:cNvSpPr/>
          <p:nvPr/>
        </p:nvSpPr>
        <p:spPr>
          <a:xfrm>
            <a:off x="594360"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Initialize 50 candidate points" descr="initial_map.png"/>
          <p:cNvPicPr>
            <a:picLocks noChangeAspect="1"/>
          </p:cNvPicPr>
          <p:nvPr/>
        </p:nvPicPr>
        <p:blipFill>
          <a:blip r:embed="rId3"/>
          <a:stretch>
            <a:fillRect/>
          </a:stretch>
        </p:blipFill>
        <p:spPr>
          <a:xfrm>
            <a:off x="1374474" y="2606040"/>
            <a:ext cx="6806530" cy="4251960"/>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03 — Initialize 50 candidate points. Generation 1, seed 42; points cover the search square.</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One point = one chromosome</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The coordinates are the two genes.</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Uniform random start</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No candidate is placed at the origin by design.</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Repeatable example</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Seed 42 fixes the random stream.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2 · Evaluate and rank the population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14</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Evaluate and rank the population" descr="evaluate.png"/>
          <p:cNvPicPr>
            <a:picLocks noChangeAspect="1"/>
          </p:cNvPicPr>
          <p:nvPr/>
        </p:nvPicPr>
        <p:blipFill>
          <a:blip r:embed="rId3"/>
          <a:stretch>
            <a:fillRect/>
          </a:stretch>
        </p:blipFill>
        <p:spPr>
          <a:xfrm>
            <a:off x="594360" y="2646189"/>
            <a:ext cx="8366760" cy="4171661"/>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04 — Evaluate and rank the population. White-mode inspector; five highest-ranked rows shown.</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Best is individual #17</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f = 5.4475 at (−1.2147, 0.5204).</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Convert cost to fitness</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13.4771 − 5.4475 = 8.0296.</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Save the elite</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Keep a protected copy before breeding.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3 · Select the mating pool</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15</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Select the mating pool" descr="select.png"/>
          <p:cNvPicPr>
            <a:picLocks noChangeAspect="1"/>
          </p:cNvPicPr>
          <p:nvPr/>
        </p:nvPicPr>
        <p:blipFill>
          <a:blip r:embed="rId3"/>
          <a:stretch>
            <a:fillRect/>
          </a:stretch>
        </p:blipFill>
        <p:spPr>
          <a:xfrm>
            <a:off x="885561" y="2606040"/>
            <a:ext cx="7784357" cy="4251960"/>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05 — Select the mating pool. White-mode inspector; roulette tape and complete mating pool.</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Draw 50 parent slots</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The first four IDs: #1, #35, #32, #25.</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Duplicates are allowed</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#37 is selected four times.</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Better is more likely</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A strong candidate is favoured, not guaranteed.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4 · Crossover creates two children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16</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Crossover creates two children" descr="crossover.png"/>
          <p:cNvPicPr>
            <a:picLocks noChangeAspect="1"/>
          </p:cNvPicPr>
          <p:nvPr/>
        </p:nvPicPr>
        <p:blipFill>
          <a:blip r:embed="rId3"/>
          <a:stretch>
            <a:fillRect/>
          </a:stretch>
        </p:blipFill>
        <p:spPr>
          <a:xfrm>
            <a:off x="594360" y="2698920"/>
            <a:ext cx="8366760" cy="4066198"/>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06 — Crossover creates two children. White-mode inspector; pair 2 shown from 25 pairs.</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The random roll is 0.6499</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0.6499 ≤ 0.80 → crossover happens.</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Cut between x₁ and x₂</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Parents #32 and #25 swap their tails.</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19 of 25 pairs cross</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The expected count is 20; actual counts vary.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5 · Mutate selected genes</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17</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Mutate selected genes" descr="mutate.png"/>
          <p:cNvPicPr>
            <a:picLocks noChangeAspect="1"/>
          </p:cNvPicPr>
          <p:nvPr/>
        </p:nvPicPr>
        <p:blipFill>
          <a:blip r:embed="rId3"/>
          <a:stretch>
            <a:fillRect/>
          </a:stretch>
        </p:blipFill>
        <p:spPr>
          <a:xfrm>
            <a:off x="594360" y="3021169"/>
            <a:ext cx="8366760" cy="3421700"/>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07 — Mutate selected genes. White-mode inspector; three changed children shown.</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5 of 100 genes mutate</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Each coordinate has its own 5% chance.</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Child 5, first coordinate</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0.5695 + 1.3945 = 1.9640.</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Repair only if needed</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All five mutations stay within [−5,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6 · Insert the protected elite</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18</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7  Commit</a:t>
            </a:r>
          </a:p>
        </p:txBody>
      </p:sp>
      <p:pic>
        <p:nvPicPr>
          <p:cNvPr id="24" name="Figure: Insert the protected elite" descr="elitism.png"/>
          <p:cNvPicPr>
            <a:picLocks noChangeAspect="1"/>
          </p:cNvPicPr>
          <p:nvPr/>
        </p:nvPicPr>
        <p:blipFill>
          <a:blip r:embed="rId3"/>
          <a:stretch>
            <a:fillRect/>
          </a:stretch>
        </p:blipFill>
        <p:spPr>
          <a:xfrm>
            <a:off x="594360" y="3243814"/>
            <a:ext cx="8366760" cy="2976410"/>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08 — Insert the protected elite. White-mode inspector; the actual generation-1 replacement.</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Saved elite: f = 5.4475</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The best parent was protected before breeding.</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Worst child: f = 13.1205</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Child #47 is replaced by the better elite.</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Population stays at 50</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One replacement; no extra individual.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WALKTHROUGH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7 · Commit and repeat</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One run throughout: 50 individuals · Pc 0.80 · Pm 0.05 · σ 1.0</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19</a:t>
            </a:r>
          </a:p>
        </p:txBody>
      </p:sp>
      <p:sp>
        <p:nvSpPr>
          <p:cNvPr id="10" name="Rounded Rectangle 9"/>
          <p:cNvSpPr/>
          <p:nvPr/>
        </p:nvSpPr>
        <p:spPr>
          <a:xfrm>
            <a:off x="59436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1  Init</a:t>
            </a:r>
          </a:p>
        </p:txBody>
      </p:sp>
      <p:sp>
        <p:nvSpPr>
          <p:cNvPr id="12" name="Rounded Rectangle 11"/>
          <p:cNvSpPr/>
          <p:nvPr/>
        </p:nvSpPr>
        <p:spPr>
          <a:xfrm>
            <a:off x="2523744"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2  Evaluate</a:t>
            </a:r>
          </a:p>
        </p:txBody>
      </p:sp>
      <p:sp>
        <p:nvSpPr>
          <p:cNvPr id="14" name="Rounded Rectangle 13"/>
          <p:cNvSpPr/>
          <p:nvPr/>
        </p:nvSpPr>
        <p:spPr>
          <a:xfrm>
            <a:off x="4453128"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9704"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3  Select</a:t>
            </a:r>
          </a:p>
        </p:txBody>
      </p:sp>
      <p:sp>
        <p:nvSpPr>
          <p:cNvPr id="16" name="Rounded Rectangle 15"/>
          <p:cNvSpPr/>
          <p:nvPr/>
        </p:nvSpPr>
        <p:spPr>
          <a:xfrm>
            <a:off x="6382512"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4  Cross</a:t>
            </a:r>
          </a:p>
        </p:txBody>
      </p:sp>
      <p:sp>
        <p:nvSpPr>
          <p:cNvPr id="18" name="Rounded Rectangle 17"/>
          <p:cNvSpPr/>
          <p:nvPr/>
        </p:nvSpPr>
        <p:spPr>
          <a:xfrm>
            <a:off x="8311896"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1"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5  Mutate</a:t>
            </a:r>
          </a:p>
        </p:txBody>
      </p:sp>
      <p:sp>
        <p:nvSpPr>
          <p:cNvPr id="20" name="Rounded Rectangle 19"/>
          <p:cNvSpPr/>
          <p:nvPr/>
        </p:nvSpPr>
        <p:spPr>
          <a:xfrm>
            <a:off x="10241280" y="1965960"/>
            <a:ext cx="1810512" cy="365760"/>
          </a:xfrm>
          <a:prstGeom prst="roundRect">
            <a:avLst>
              <a:gd name="adj" fmla="val 12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77855"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596B70"/>
                </a:solidFill>
                <a:latin typeface="Aptos"/>
              </a:defRPr>
            </a:pPr>
            <a:r>
              <a:t>6  Elite</a:t>
            </a:r>
          </a:p>
        </p:txBody>
      </p:sp>
      <p:sp>
        <p:nvSpPr>
          <p:cNvPr id="22" name="Rounded Rectangle 21"/>
          <p:cNvSpPr/>
          <p:nvPr/>
        </p:nvSpPr>
        <p:spPr>
          <a:xfrm>
            <a:off x="12170664" y="1965960"/>
            <a:ext cx="1810512" cy="365760"/>
          </a:xfrm>
          <a:prstGeom prst="roundRect">
            <a:avLst>
              <a:gd name="adj" fmla="val 12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207240" y="2016252"/>
            <a:ext cx="173736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7  Commit</a:t>
            </a:r>
          </a:p>
        </p:txBody>
      </p:sp>
      <p:pic>
        <p:nvPicPr>
          <p:cNvPr id="24" name="Figure: Commit and repeat" descr="commit.png"/>
          <p:cNvPicPr>
            <a:picLocks noChangeAspect="1"/>
          </p:cNvPicPr>
          <p:nvPr/>
        </p:nvPicPr>
        <p:blipFill>
          <a:blip r:embed="rId3"/>
          <a:stretch>
            <a:fillRect/>
          </a:stretch>
        </p:blipFill>
        <p:spPr>
          <a:xfrm>
            <a:off x="594360" y="3624654"/>
            <a:ext cx="8366760" cy="2214730"/>
          </a:xfrm>
          <a:prstGeom prst="rect">
            <a:avLst/>
          </a:prstGeom>
        </p:spPr>
      </p:pic>
      <p:sp>
        <p:nvSpPr>
          <p:cNvPr id="25" name="TextBox 24"/>
          <p:cNvSpPr txBox="1"/>
          <p:nvPr/>
        </p:nvSpPr>
        <p:spPr>
          <a:xfrm>
            <a:off x="594360" y="6949440"/>
            <a:ext cx="836676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09 — Commit and repeat. White-mode generation summary after the first breeding cycle.</a:t>
            </a:r>
          </a:p>
        </p:txBody>
      </p:sp>
      <p:sp>
        <p:nvSpPr>
          <p:cNvPr id="26" name="Rectangle 25"/>
          <p:cNvSpPr/>
          <p:nvPr/>
        </p:nvSpPr>
        <p:spPr>
          <a:xfrm>
            <a:off x="9418320" y="274320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nim_1_title"/>
          <p:cNvSpPr txBox="1"/>
          <p:nvPr/>
        </p:nvSpPr>
        <p:spPr>
          <a:xfrm>
            <a:off x="9601200" y="274320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Children become generation 2</a:t>
            </a:r>
          </a:p>
        </p:txBody>
      </p:sp>
      <p:sp>
        <p:nvSpPr>
          <p:cNvPr id="28" name="anim_1_body"/>
          <p:cNvSpPr txBox="1"/>
          <p:nvPr/>
        </p:nvSpPr>
        <p:spPr>
          <a:xfrm>
            <a:off x="9601200" y="321868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The best candidate now has f = 2.9802.</a:t>
            </a:r>
          </a:p>
        </p:txBody>
      </p:sp>
      <p:sp>
        <p:nvSpPr>
          <p:cNvPr id="29" name="Rectangle 28"/>
          <p:cNvSpPr/>
          <p:nvPr/>
        </p:nvSpPr>
        <p:spPr>
          <a:xfrm>
            <a:off x="9418320" y="42062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nim_2_title"/>
          <p:cNvSpPr txBox="1"/>
          <p:nvPr/>
        </p:nvSpPr>
        <p:spPr>
          <a:xfrm>
            <a:off x="9601200" y="420624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A better combination</a:t>
            </a:r>
          </a:p>
        </p:txBody>
      </p:sp>
      <p:sp>
        <p:nvSpPr>
          <p:cNvPr id="31" name="anim_2_body"/>
          <p:cNvSpPr txBox="1"/>
          <p:nvPr/>
        </p:nvSpPr>
        <p:spPr>
          <a:xfrm>
            <a:off x="9601200" y="4681727"/>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New best: (0.8459, 0.0953).</a:t>
            </a:r>
          </a:p>
        </p:txBody>
      </p:sp>
      <p:sp>
        <p:nvSpPr>
          <p:cNvPr id="32" name="Rectangle 31"/>
          <p:cNvSpPr/>
          <p:nvPr/>
        </p:nvSpPr>
        <p:spPr>
          <a:xfrm>
            <a:off x="9418320" y="566928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anim_3_title"/>
          <p:cNvSpPr txBox="1"/>
          <p:nvPr/>
        </p:nvSpPr>
        <p:spPr>
          <a:xfrm>
            <a:off x="9601200" y="5669280"/>
            <a:ext cx="429768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Next: evaluate again</a:t>
            </a:r>
          </a:p>
        </p:txBody>
      </p:sp>
      <p:sp>
        <p:nvSpPr>
          <p:cNvPr id="34" name="anim_3_body"/>
          <p:cNvSpPr txBox="1"/>
          <p:nvPr/>
        </p:nvSpPr>
        <p:spPr>
          <a:xfrm>
            <a:off x="9601200" y="6144768"/>
            <a:ext cx="429768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Update history, check stopping, and repeat.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5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35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5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0" grpId="0"/>
      <p:bldP spid="31"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ALGORITHM IN MOTION</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Watch the population gather around the origin</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Animated white-mode frontend replay · selected evaluated generations from the same run</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20</a:t>
            </a:r>
          </a:p>
        </p:txBody>
      </p:sp>
      <p:pic>
        <p:nvPicPr>
          <p:cNvPr id="10" name="Figure: Population replay" descr="evolution.gif"/>
          <p:cNvPicPr>
            <a:picLocks noChangeAspect="1"/>
          </p:cNvPicPr>
          <p:nvPr/>
        </p:nvPicPr>
        <p:blipFill>
          <a:blip r:embed="rId3"/>
          <a:stretch>
            <a:fillRect/>
          </a:stretch>
        </p:blipFill>
        <p:spPr>
          <a:xfrm>
            <a:off x="736831" y="2039112"/>
            <a:ext cx="8036097" cy="5020056"/>
          </a:xfrm>
          <a:prstGeom prst="rect">
            <a:avLst/>
          </a:prstGeom>
        </p:spPr>
      </p:pic>
      <p:sp>
        <p:nvSpPr>
          <p:cNvPr id="11" name="TextBox 10"/>
          <p:cNvSpPr txBox="1"/>
          <p:nvPr/>
        </p:nvSpPr>
        <p:spPr>
          <a:xfrm>
            <a:off x="594360" y="7150608"/>
            <a:ext cx="832104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10 — Population replay. 10 snapshots, generations 1–100; loops in PowerPoint Slide Show.</a:t>
            </a:r>
          </a:p>
        </p:txBody>
      </p:sp>
      <p:sp>
        <p:nvSpPr>
          <p:cNvPr id="12" name="Rectangle 11"/>
          <p:cNvSpPr/>
          <p:nvPr/>
        </p:nvSpPr>
        <p:spPr>
          <a:xfrm>
            <a:off x="9372600" y="2606040"/>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nim_1_title"/>
          <p:cNvSpPr txBox="1"/>
          <p:nvPr/>
        </p:nvSpPr>
        <p:spPr>
          <a:xfrm>
            <a:off x="9555480" y="2606040"/>
            <a:ext cx="420624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Early: broad movement</a:t>
            </a:r>
          </a:p>
        </p:txBody>
      </p:sp>
      <p:sp>
        <p:nvSpPr>
          <p:cNvPr id="14" name="anim_1_body"/>
          <p:cNvSpPr txBox="1"/>
          <p:nvPr/>
        </p:nvSpPr>
        <p:spPr>
          <a:xfrm>
            <a:off x="9555480" y="3081528"/>
            <a:ext cx="420624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Selection and recombination rapidly reduce the objective.</a:t>
            </a:r>
          </a:p>
        </p:txBody>
      </p:sp>
      <p:sp>
        <p:nvSpPr>
          <p:cNvPr id="15" name="Rectangle 14"/>
          <p:cNvSpPr/>
          <p:nvPr/>
        </p:nvSpPr>
        <p:spPr>
          <a:xfrm>
            <a:off x="9372600" y="4224528"/>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nim_2_title"/>
          <p:cNvSpPr txBox="1"/>
          <p:nvPr/>
        </p:nvSpPr>
        <p:spPr>
          <a:xfrm>
            <a:off x="9555480" y="4224528"/>
            <a:ext cx="420624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Later: a compact cluster</a:t>
            </a:r>
          </a:p>
        </p:txBody>
      </p:sp>
      <p:sp>
        <p:nvSpPr>
          <p:cNvPr id="17" name="anim_2_body"/>
          <p:cNvSpPr txBox="1"/>
          <p:nvPr/>
        </p:nvSpPr>
        <p:spPr>
          <a:xfrm>
            <a:off x="9555480" y="4700016"/>
            <a:ext cx="420624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New mutations still send some points away from the centre.</a:t>
            </a:r>
          </a:p>
        </p:txBody>
      </p:sp>
      <p:sp>
        <p:nvSpPr>
          <p:cNvPr id="18" name="Rectangle 17"/>
          <p:cNvSpPr/>
          <p:nvPr/>
        </p:nvSpPr>
        <p:spPr>
          <a:xfrm>
            <a:off x="9372600" y="5843016"/>
            <a:ext cx="54864" cy="1042415"/>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nim_3_title"/>
          <p:cNvSpPr txBox="1"/>
          <p:nvPr/>
        </p:nvSpPr>
        <p:spPr>
          <a:xfrm>
            <a:off x="9555480" y="5843016"/>
            <a:ext cx="4206240" cy="411480"/>
          </a:xfrm>
          <a:prstGeom prst="rect">
            <a:avLst/>
          </a:prstGeom>
          <a:noFill/>
        </p:spPr>
        <p:txBody>
          <a:bodyPr wrap="square" lIns="0" tIns="0" rIns="0" bIns="0">
            <a:spAutoFit/>
          </a:bodyPr>
          <a:lstStyle/>
          <a:p>
            <a:pPr>
              <a:spcBef>
                <a:spcPts val="0"/>
              </a:spcBef>
              <a:spcAft>
                <a:spcPts val="400"/>
              </a:spcAft>
              <a:defRPr sz="2300" b="1">
                <a:solidFill>
                  <a:srgbClr val="0A7EA4"/>
                </a:solidFill>
                <a:latin typeface="Aptos"/>
              </a:defRPr>
            </a:pPr>
            <a:r>
              <a:t>A persistent best point</a:t>
            </a:r>
          </a:p>
        </p:txBody>
      </p:sp>
      <p:sp>
        <p:nvSpPr>
          <p:cNvPr id="20" name="anim_3_body"/>
          <p:cNvSpPr txBox="1"/>
          <p:nvPr/>
        </p:nvSpPr>
        <p:spPr>
          <a:xfrm>
            <a:off x="9555480" y="6318504"/>
            <a:ext cx="4206240" cy="731520"/>
          </a:xfrm>
          <a:prstGeom prst="rect">
            <a:avLst/>
          </a:prstGeom>
          <a:noFill/>
        </p:spPr>
        <p:txBody>
          <a:bodyPr wrap="square" lIns="0" tIns="0" rIns="0" bIns="0">
            <a:spAutoFit/>
          </a:bodyPr>
          <a:lstStyle/>
          <a:p>
            <a:pPr>
              <a:spcBef>
                <a:spcPts val="0"/>
              </a:spcBef>
              <a:spcAft>
                <a:spcPts val="400"/>
              </a:spcAft>
              <a:defRPr sz="2000" b="0">
                <a:solidFill>
                  <a:srgbClr val="18343B"/>
                </a:solidFill>
                <a:latin typeface="Aptos"/>
              </a:defRPr>
            </a:pPr>
            <a:r>
              <a:t>Elitism keeps the strongest candidate safe.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35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1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RESULTS · CONVERGENCE</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Convergence: fast gains, long plateaus, a late drop</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Blue = best objective · orange = population average · logarithmic vertical scale</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21</a:t>
            </a:r>
          </a:p>
        </p:txBody>
      </p:sp>
      <p:pic>
        <p:nvPicPr>
          <p:cNvPr id="10" name="Figure: Convergence curve" descr="convergence_log.png"/>
          <p:cNvPicPr>
            <a:picLocks noChangeAspect="1"/>
          </p:cNvPicPr>
          <p:nvPr/>
        </p:nvPicPr>
        <p:blipFill>
          <a:blip r:embed="rId3"/>
          <a:stretch>
            <a:fillRect/>
          </a:stretch>
        </p:blipFill>
        <p:spPr>
          <a:xfrm>
            <a:off x="747084" y="2057400"/>
            <a:ext cx="13136231" cy="3858768"/>
          </a:xfrm>
          <a:prstGeom prst="rect">
            <a:avLst/>
          </a:prstGeom>
        </p:spPr>
      </p:pic>
      <p:sp>
        <p:nvSpPr>
          <p:cNvPr id="11" name="TextBox 10"/>
          <p:cNvSpPr txBox="1"/>
          <p:nvPr/>
        </p:nvSpPr>
        <p:spPr>
          <a:xfrm>
            <a:off x="594360" y="6007607"/>
            <a:ext cx="13441680" cy="5029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Fig. 11 — Convergence curve. Actual white-mode frontend; 100 evaluated generations, seed 42.</a:t>
            </a:r>
          </a:p>
        </p:txBody>
      </p:sp>
      <p:sp>
        <p:nvSpPr>
          <p:cNvPr id="12" name="TextBox 11"/>
          <p:cNvSpPr txBox="1"/>
          <p:nvPr/>
        </p:nvSpPr>
        <p:spPr>
          <a:xfrm>
            <a:off x="914400" y="6510528"/>
            <a:ext cx="4023360" cy="411480"/>
          </a:xfrm>
          <a:prstGeom prst="rect">
            <a:avLst/>
          </a:prstGeom>
          <a:noFill/>
        </p:spPr>
        <p:txBody>
          <a:bodyPr wrap="square" lIns="0" tIns="0" rIns="0" bIns="0">
            <a:spAutoFit/>
          </a:bodyPr>
          <a:lstStyle/>
          <a:p>
            <a:pPr>
              <a:spcBef>
                <a:spcPts val="0"/>
              </a:spcBef>
              <a:spcAft>
                <a:spcPts val="400"/>
              </a:spcAft>
              <a:defRPr sz="2400" b="1">
                <a:solidFill>
                  <a:srgbClr val="0A7EA4"/>
                </a:solidFill>
                <a:latin typeface="Aptos"/>
              </a:defRPr>
            </a:pPr>
            <a:r>
              <a:t>G1 → G5</a:t>
            </a:r>
          </a:p>
        </p:txBody>
      </p:sp>
      <p:sp>
        <p:nvSpPr>
          <p:cNvPr id="13" name="TextBox 12"/>
          <p:cNvSpPr txBox="1"/>
          <p:nvPr/>
        </p:nvSpPr>
        <p:spPr>
          <a:xfrm>
            <a:off x="914400" y="6995160"/>
            <a:ext cx="4023360" cy="41148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5.4475 → 2.7318</a:t>
            </a:r>
          </a:p>
        </p:txBody>
      </p:sp>
      <p:sp>
        <p:nvSpPr>
          <p:cNvPr id="14" name="TextBox 13"/>
          <p:cNvSpPr txBox="1"/>
          <p:nvPr/>
        </p:nvSpPr>
        <p:spPr>
          <a:xfrm>
            <a:off x="5532120" y="6510528"/>
            <a:ext cx="4023360" cy="411480"/>
          </a:xfrm>
          <a:prstGeom prst="rect">
            <a:avLst/>
          </a:prstGeom>
          <a:noFill/>
        </p:spPr>
        <p:txBody>
          <a:bodyPr wrap="square" lIns="0" tIns="0" rIns="0" bIns="0">
            <a:spAutoFit/>
          </a:bodyPr>
          <a:lstStyle/>
          <a:p>
            <a:pPr>
              <a:spcBef>
                <a:spcPts val="0"/>
              </a:spcBef>
              <a:spcAft>
                <a:spcPts val="400"/>
              </a:spcAft>
              <a:defRPr sz="2400" b="1">
                <a:solidFill>
                  <a:srgbClr val="0A7EA4"/>
                </a:solidFill>
                <a:latin typeface="Aptos"/>
              </a:defRPr>
            </a:pPr>
            <a:r>
              <a:t>G47 → G76</a:t>
            </a:r>
          </a:p>
        </p:txBody>
      </p:sp>
      <p:sp>
        <p:nvSpPr>
          <p:cNvPr id="15" name="TextBox 14"/>
          <p:cNvSpPr txBox="1"/>
          <p:nvPr/>
        </p:nvSpPr>
        <p:spPr>
          <a:xfrm>
            <a:off x="5532120" y="6995160"/>
            <a:ext cx="4023360" cy="41148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Best stays at 0.10067</a:t>
            </a:r>
          </a:p>
        </p:txBody>
      </p:sp>
      <p:sp>
        <p:nvSpPr>
          <p:cNvPr id="16" name="TextBox 15"/>
          <p:cNvSpPr txBox="1"/>
          <p:nvPr/>
        </p:nvSpPr>
        <p:spPr>
          <a:xfrm>
            <a:off x="10149840" y="6510528"/>
            <a:ext cx="4023360" cy="411480"/>
          </a:xfrm>
          <a:prstGeom prst="rect">
            <a:avLst/>
          </a:prstGeom>
          <a:noFill/>
        </p:spPr>
        <p:txBody>
          <a:bodyPr wrap="square" lIns="0" tIns="0" rIns="0" bIns="0">
            <a:spAutoFit/>
          </a:bodyPr>
          <a:lstStyle/>
          <a:p>
            <a:pPr>
              <a:spcBef>
                <a:spcPts val="0"/>
              </a:spcBef>
              <a:spcAft>
                <a:spcPts val="400"/>
              </a:spcAft>
              <a:defRPr sz="2400" b="1">
                <a:solidFill>
                  <a:srgbClr val="0A7EA4"/>
                </a:solidFill>
                <a:latin typeface="Aptos"/>
              </a:defRPr>
            </a:pPr>
            <a:r>
              <a:t>G77 → G100</a:t>
            </a:r>
          </a:p>
        </p:txBody>
      </p:sp>
      <p:sp>
        <p:nvSpPr>
          <p:cNvPr id="17" name="TextBox 16"/>
          <p:cNvSpPr txBox="1"/>
          <p:nvPr/>
        </p:nvSpPr>
        <p:spPr>
          <a:xfrm>
            <a:off x="10149840" y="6995160"/>
            <a:ext cx="4023360" cy="411480"/>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Best reaches 0.011695</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RESULTS · EXPLAIN THE CURVE</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Why did the average spike at generation 67?</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The generation-66 mutation stage produced the population evaluated at generation 67.</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22</a:t>
            </a:r>
          </a:p>
        </p:txBody>
      </p:sp>
      <p:sp>
        <p:nvSpPr>
          <p:cNvPr id="10" name="Rounded Rectangle 9"/>
          <p:cNvSpPr/>
          <p:nvPr/>
        </p:nvSpPr>
        <p:spPr>
          <a:xfrm>
            <a:off x="868680" y="4441072"/>
            <a:ext cx="2331720" cy="697855"/>
          </a:xfrm>
          <a:prstGeom prst="roundRect">
            <a:avLst>
              <a:gd name="adj" fmla="val 15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5230368"/>
            <a:ext cx="2423160" cy="457200"/>
          </a:xfrm>
          <a:prstGeom prst="rect">
            <a:avLst/>
          </a:prstGeom>
          <a:noFill/>
        </p:spPr>
        <p:txBody>
          <a:bodyPr wrap="square" lIns="0" tIns="0" rIns="0" bIns="0">
            <a:spAutoFit/>
          </a:bodyPr>
          <a:lstStyle/>
          <a:p>
            <a:pPr algn="ctr">
              <a:spcBef>
                <a:spcPts val="0"/>
              </a:spcBef>
              <a:spcAft>
                <a:spcPts val="400"/>
              </a:spcAft>
              <a:defRPr sz="2800" b="1">
                <a:solidFill>
                  <a:srgbClr val="0A7EA4"/>
                </a:solidFill>
                <a:latin typeface="Aptos"/>
              </a:defRPr>
            </a:pPr>
            <a:r>
              <a:t>0.2313</a:t>
            </a:r>
          </a:p>
        </p:txBody>
      </p:sp>
      <p:sp>
        <p:nvSpPr>
          <p:cNvPr id="12" name="TextBox 11"/>
          <p:cNvSpPr txBox="1"/>
          <p:nvPr/>
        </p:nvSpPr>
        <p:spPr>
          <a:xfrm>
            <a:off x="777240" y="5806440"/>
            <a:ext cx="2606040" cy="731520"/>
          </a:xfrm>
          <a:prstGeom prst="rect">
            <a:avLst/>
          </a:prstGeom>
          <a:noFill/>
        </p:spPr>
        <p:txBody>
          <a:bodyPr wrap="square" lIns="0" tIns="0" rIns="0" bIns="0">
            <a:spAutoFit/>
          </a:bodyPr>
          <a:lstStyle/>
          <a:p>
            <a:pPr algn="ctr">
              <a:spcBef>
                <a:spcPts val="0"/>
              </a:spcBef>
              <a:spcAft>
                <a:spcPts val="400"/>
              </a:spcAft>
              <a:defRPr sz="2000" b="1">
                <a:solidFill>
                  <a:srgbClr val="18343B"/>
                </a:solidFill>
                <a:latin typeface="Aptos"/>
              </a:defRPr>
            </a:pPr>
            <a:r>
              <a:t>G66 population</a:t>
            </a:r>
          </a:p>
        </p:txBody>
      </p:sp>
      <p:cxnSp>
        <p:nvCxnSpPr>
          <p:cNvPr id="13" name="Connector 12"/>
          <p:cNvCxnSpPr/>
          <p:nvPr/>
        </p:nvCxnSpPr>
        <p:spPr>
          <a:xfrm>
            <a:off x="3374136" y="4023360"/>
            <a:ext cx="649224" cy="0"/>
          </a:xfrm>
          <a:prstGeom prst="line">
            <a:avLst/>
          </a:prstGeom>
          <a:ln w="25400">
            <a:solidFill>
              <a:srgbClr val="D8DFD9"/>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79392" y="4613851"/>
            <a:ext cx="2331720" cy="525076"/>
          </a:xfrm>
          <a:prstGeom prst="roundRect">
            <a:avLst>
              <a:gd name="adj" fmla="val 15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79392" y="5230368"/>
            <a:ext cx="2423160" cy="457200"/>
          </a:xfrm>
          <a:prstGeom prst="rect">
            <a:avLst/>
          </a:prstGeom>
          <a:noFill/>
        </p:spPr>
        <p:txBody>
          <a:bodyPr wrap="square" lIns="0" tIns="0" rIns="0" bIns="0">
            <a:spAutoFit/>
          </a:bodyPr>
          <a:lstStyle/>
          <a:p>
            <a:pPr algn="ctr">
              <a:spcBef>
                <a:spcPts val="0"/>
              </a:spcBef>
              <a:spcAft>
                <a:spcPts val="400"/>
              </a:spcAft>
              <a:defRPr sz="2800" b="1">
                <a:solidFill>
                  <a:srgbClr val="0A7EA4"/>
                </a:solidFill>
                <a:latin typeface="Aptos"/>
              </a:defRPr>
            </a:pPr>
            <a:r>
              <a:t>0.1740</a:t>
            </a:r>
          </a:p>
        </p:txBody>
      </p:sp>
      <p:sp>
        <p:nvSpPr>
          <p:cNvPr id="16" name="TextBox 15"/>
          <p:cNvSpPr txBox="1"/>
          <p:nvPr/>
        </p:nvSpPr>
        <p:spPr>
          <a:xfrm>
            <a:off x="4187952" y="5806440"/>
            <a:ext cx="2606040" cy="731520"/>
          </a:xfrm>
          <a:prstGeom prst="rect">
            <a:avLst/>
          </a:prstGeom>
          <a:noFill/>
        </p:spPr>
        <p:txBody>
          <a:bodyPr wrap="square" lIns="0" tIns="0" rIns="0" bIns="0">
            <a:spAutoFit/>
          </a:bodyPr>
          <a:lstStyle/>
          <a:p>
            <a:pPr algn="ctr">
              <a:spcBef>
                <a:spcPts val="0"/>
              </a:spcBef>
              <a:spcAft>
                <a:spcPts val="400"/>
              </a:spcAft>
              <a:defRPr sz="2000" b="1">
                <a:solidFill>
                  <a:srgbClr val="18343B"/>
                </a:solidFill>
                <a:latin typeface="Aptos"/>
              </a:defRPr>
            </a:pPr>
            <a:r>
              <a:t>After crossover</a:t>
            </a:r>
          </a:p>
        </p:txBody>
      </p:sp>
      <p:cxnSp>
        <p:nvCxnSpPr>
          <p:cNvPr id="17" name="Connector 16"/>
          <p:cNvCxnSpPr/>
          <p:nvPr/>
        </p:nvCxnSpPr>
        <p:spPr>
          <a:xfrm>
            <a:off x="6784848" y="4023360"/>
            <a:ext cx="649223" cy="0"/>
          </a:xfrm>
          <a:prstGeom prst="line">
            <a:avLst/>
          </a:prstGeom>
          <a:ln w="25400">
            <a:solidFill>
              <a:srgbClr val="D8DFD9"/>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690104" y="2762047"/>
            <a:ext cx="2331720" cy="2376880"/>
          </a:xfrm>
          <a:prstGeom prst="roundRect">
            <a:avLst>
              <a:gd name="adj" fmla="val 1500"/>
            </a:avLst>
          </a:prstGeom>
          <a:solidFill>
            <a:srgbClr val="C467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0104" y="5230368"/>
            <a:ext cx="2423160" cy="457200"/>
          </a:xfrm>
          <a:prstGeom prst="rect">
            <a:avLst/>
          </a:prstGeom>
          <a:noFill/>
        </p:spPr>
        <p:txBody>
          <a:bodyPr wrap="square" lIns="0" tIns="0" rIns="0" bIns="0">
            <a:spAutoFit/>
          </a:bodyPr>
          <a:lstStyle/>
          <a:p>
            <a:pPr algn="ctr">
              <a:spcBef>
                <a:spcPts val="0"/>
              </a:spcBef>
              <a:spcAft>
                <a:spcPts val="400"/>
              </a:spcAft>
              <a:defRPr sz="2800" b="1">
                <a:solidFill>
                  <a:srgbClr val="C4671A"/>
                </a:solidFill>
                <a:latin typeface="Aptos"/>
              </a:defRPr>
            </a:pPr>
            <a:r>
              <a:t>0.7877</a:t>
            </a:r>
          </a:p>
        </p:txBody>
      </p:sp>
      <p:sp>
        <p:nvSpPr>
          <p:cNvPr id="20" name="TextBox 19"/>
          <p:cNvSpPr txBox="1"/>
          <p:nvPr/>
        </p:nvSpPr>
        <p:spPr>
          <a:xfrm>
            <a:off x="7598664" y="5806440"/>
            <a:ext cx="2606040" cy="731520"/>
          </a:xfrm>
          <a:prstGeom prst="rect">
            <a:avLst/>
          </a:prstGeom>
          <a:noFill/>
        </p:spPr>
        <p:txBody>
          <a:bodyPr wrap="square" lIns="0" tIns="0" rIns="0" bIns="0">
            <a:spAutoFit/>
          </a:bodyPr>
          <a:lstStyle/>
          <a:p>
            <a:pPr algn="ctr">
              <a:spcBef>
                <a:spcPts val="0"/>
              </a:spcBef>
              <a:spcAft>
                <a:spcPts val="400"/>
              </a:spcAft>
              <a:defRPr sz="2000" b="1">
                <a:solidFill>
                  <a:srgbClr val="18343B"/>
                </a:solidFill>
                <a:latin typeface="Aptos"/>
              </a:defRPr>
            </a:pPr>
            <a:r>
              <a:t>After mutation</a:t>
            </a:r>
          </a:p>
        </p:txBody>
      </p:sp>
      <p:cxnSp>
        <p:nvCxnSpPr>
          <p:cNvPr id="21" name="Connector 20"/>
          <p:cNvCxnSpPr/>
          <p:nvPr/>
        </p:nvCxnSpPr>
        <p:spPr>
          <a:xfrm>
            <a:off x="10195560" y="4023360"/>
            <a:ext cx="649224" cy="0"/>
          </a:xfrm>
          <a:prstGeom prst="line">
            <a:avLst/>
          </a:prstGeom>
          <a:ln w="25400">
            <a:solidFill>
              <a:srgbClr val="D8DFD9"/>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1100815" y="3098570"/>
            <a:ext cx="2331720" cy="2040357"/>
          </a:xfrm>
          <a:prstGeom prst="roundRect">
            <a:avLst>
              <a:gd name="adj" fmla="val 1500"/>
            </a:avLst>
          </a:prstGeom>
          <a:solidFill>
            <a:srgbClr val="AF8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00815" y="5230368"/>
            <a:ext cx="2423160" cy="457200"/>
          </a:xfrm>
          <a:prstGeom prst="rect">
            <a:avLst/>
          </a:prstGeom>
          <a:noFill/>
        </p:spPr>
        <p:txBody>
          <a:bodyPr wrap="square" lIns="0" tIns="0" rIns="0" bIns="0">
            <a:spAutoFit/>
          </a:bodyPr>
          <a:lstStyle/>
          <a:p>
            <a:pPr algn="ctr">
              <a:spcBef>
                <a:spcPts val="0"/>
              </a:spcBef>
              <a:spcAft>
                <a:spcPts val="400"/>
              </a:spcAft>
              <a:defRPr sz="2800" b="1">
                <a:solidFill>
                  <a:srgbClr val="AF821E"/>
                </a:solidFill>
                <a:latin typeface="Aptos"/>
              </a:defRPr>
            </a:pPr>
            <a:r>
              <a:t>0.6762</a:t>
            </a:r>
          </a:p>
        </p:txBody>
      </p:sp>
      <p:sp>
        <p:nvSpPr>
          <p:cNvPr id="24" name="TextBox 23"/>
          <p:cNvSpPr txBox="1"/>
          <p:nvPr/>
        </p:nvSpPr>
        <p:spPr>
          <a:xfrm>
            <a:off x="11009376" y="5806440"/>
            <a:ext cx="2606040" cy="731520"/>
          </a:xfrm>
          <a:prstGeom prst="rect">
            <a:avLst/>
          </a:prstGeom>
          <a:noFill/>
        </p:spPr>
        <p:txBody>
          <a:bodyPr wrap="square" lIns="0" tIns="0" rIns="0" bIns="0">
            <a:spAutoFit/>
          </a:bodyPr>
          <a:lstStyle/>
          <a:p>
            <a:pPr algn="ctr">
              <a:spcBef>
                <a:spcPts val="0"/>
              </a:spcBef>
              <a:spcAft>
                <a:spcPts val="400"/>
              </a:spcAft>
              <a:defRPr sz="2000" b="1">
                <a:solidFill>
                  <a:srgbClr val="18343B"/>
                </a:solidFill>
                <a:latin typeface="Aptos"/>
              </a:defRPr>
            </a:pPr>
            <a:r>
              <a:t>After elitism</a:t>
            </a:r>
          </a:p>
        </p:txBody>
      </p:sp>
      <p:cxnSp>
        <p:nvCxnSpPr>
          <p:cNvPr id="25" name="Connector 24"/>
          <p:cNvCxnSpPr/>
          <p:nvPr/>
        </p:nvCxnSpPr>
        <p:spPr>
          <a:xfrm>
            <a:off x="777240" y="5148072"/>
            <a:ext cx="12938760" cy="0"/>
          </a:xfrm>
          <a:prstGeom prst="line">
            <a:avLst/>
          </a:prstGeom>
          <a:ln w="12700">
            <a:solidFill>
              <a:srgbClr val="D8DF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2148840"/>
            <a:ext cx="2743200" cy="365760"/>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Mean f(x)</a:t>
            </a:r>
          </a:p>
        </p:txBody>
      </p:sp>
      <p:sp>
        <p:nvSpPr>
          <p:cNvPr id="27" name="Rounded Rectangle 26"/>
          <p:cNvSpPr/>
          <p:nvPr/>
        </p:nvSpPr>
        <p:spPr>
          <a:xfrm>
            <a:off x="7132320" y="2157984"/>
            <a:ext cx="2743200" cy="384048"/>
          </a:xfrm>
          <a:prstGeom prst="roundRect">
            <a:avLst>
              <a:gd name="adj" fmla="val 20000"/>
            </a:avLst>
          </a:prstGeom>
          <a:solidFill>
            <a:srgbClr val="C467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59" y="2217420"/>
            <a:ext cx="256032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8 GENES MUTATED</a:t>
            </a:r>
          </a:p>
        </p:txBody>
      </p:sp>
      <p:sp>
        <p:nvSpPr>
          <p:cNvPr id="29" name="Rounded Rectangle 28"/>
          <p:cNvSpPr/>
          <p:nvPr/>
        </p:nvSpPr>
        <p:spPr>
          <a:xfrm>
            <a:off x="594360" y="6693408"/>
            <a:ext cx="13441680" cy="612648"/>
          </a:xfrm>
          <a:prstGeom prst="roundRect">
            <a:avLst>
              <a:gd name="adj" fmla="val 8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 y="6821424"/>
            <a:ext cx="12893040" cy="393192"/>
          </a:xfrm>
          <a:prstGeom prst="rect">
            <a:avLst/>
          </a:prstGeom>
          <a:noFill/>
        </p:spPr>
        <p:txBody>
          <a:bodyPr wrap="square" lIns="0" tIns="0" rIns="0" bIns="0">
            <a:spAutoFit/>
          </a:bodyPr>
          <a:lstStyle/>
          <a:p>
            <a:pPr>
              <a:spcBef>
                <a:spcPts val="0"/>
              </a:spcBef>
              <a:spcAft>
                <a:spcPts val="400"/>
              </a:spcAft>
              <a:defRPr sz="2100" b="0">
                <a:solidFill>
                  <a:srgbClr val="18343B"/>
                </a:solidFill>
                <a:latin typeface="Aptos"/>
              </a:defRPr>
            </a:pPr>
            <a:r>
              <a:t>Best stays at 0.10067. Mutation worsened the mean; elitism removed the worst child.</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RESULTS · SEED 42</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Final result: close to the known optimum</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The run ends at the 100-generation limit, with 23 consecutive stagnant generations.</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23</a:t>
            </a:r>
          </a:p>
        </p:txBody>
      </p:sp>
      <p:sp>
        <p:nvSpPr>
          <p:cNvPr id="10" name="Rounded Rectangle 9"/>
          <p:cNvSpPr/>
          <p:nvPr/>
        </p:nvSpPr>
        <p:spPr>
          <a:xfrm>
            <a:off x="594360" y="2286000"/>
            <a:ext cx="6492240" cy="4206240"/>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606040"/>
            <a:ext cx="5852160" cy="457200"/>
          </a:xfrm>
          <a:prstGeom prst="rect">
            <a:avLst/>
          </a:prstGeom>
          <a:noFill/>
        </p:spPr>
        <p:txBody>
          <a:bodyPr wrap="square" lIns="0" tIns="0" rIns="0" bIns="0">
            <a:spAutoFit/>
          </a:bodyPr>
          <a:lstStyle/>
          <a:p>
            <a:pPr>
              <a:spcBef>
                <a:spcPts val="0"/>
              </a:spcBef>
              <a:spcAft>
                <a:spcPts val="400"/>
              </a:spcAft>
              <a:defRPr sz="2400" b="0">
                <a:solidFill>
                  <a:srgbClr val="596B70"/>
                </a:solidFill>
                <a:latin typeface="Aptos"/>
              </a:defRPr>
            </a:pPr>
            <a:r>
              <a:t>Best point</a:t>
            </a:r>
          </a:p>
        </p:txBody>
      </p:sp>
      <p:sp>
        <p:nvSpPr>
          <p:cNvPr id="12" name="TextBox 11"/>
          <p:cNvSpPr txBox="1"/>
          <p:nvPr/>
        </p:nvSpPr>
        <p:spPr>
          <a:xfrm>
            <a:off x="914400" y="3246120"/>
            <a:ext cx="5852160" cy="731520"/>
          </a:xfrm>
          <a:prstGeom prst="rect">
            <a:avLst/>
          </a:prstGeom>
          <a:noFill/>
        </p:spPr>
        <p:txBody>
          <a:bodyPr wrap="square" lIns="0" tIns="0" rIns="0" bIns="0">
            <a:spAutoFit/>
          </a:bodyPr>
          <a:lstStyle/>
          <a:p>
            <a:pPr>
              <a:spcBef>
                <a:spcPts val="0"/>
              </a:spcBef>
              <a:spcAft>
                <a:spcPts val="400"/>
              </a:spcAft>
              <a:defRPr sz="3400" b="1">
                <a:solidFill>
                  <a:srgbClr val="18343B"/>
                </a:solidFill>
                <a:latin typeface="Aptos"/>
              </a:defRPr>
            </a:pPr>
            <a:r>
              <a:t>(0.003973, 0.000317)</a:t>
            </a:r>
          </a:p>
        </p:txBody>
      </p:sp>
      <p:sp>
        <p:nvSpPr>
          <p:cNvPr id="13" name="TextBox 12"/>
          <p:cNvSpPr txBox="1"/>
          <p:nvPr/>
        </p:nvSpPr>
        <p:spPr>
          <a:xfrm>
            <a:off x="914400" y="4251960"/>
            <a:ext cx="5852160" cy="82296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a:defRPr>
            </a:pPr>
            <a:r>
              <a:t>f(x) = 0.011695</a:t>
            </a:r>
          </a:p>
        </p:txBody>
      </p:sp>
      <p:sp>
        <p:nvSpPr>
          <p:cNvPr id="14" name="TextBox 13"/>
          <p:cNvSpPr txBox="1"/>
          <p:nvPr/>
        </p:nvSpPr>
        <p:spPr>
          <a:xfrm>
            <a:off x="914400" y="5413248"/>
            <a:ext cx="5852160" cy="548640"/>
          </a:xfrm>
          <a:prstGeom prst="rect">
            <a:avLst/>
          </a:prstGeom>
          <a:noFill/>
        </p:spPr>
        <p:txBody>
          <a:bodyPr wrap="square" lIns="0" tIns="0" rIns="0" bIns="0">
            <a:spAutoFit/>
          </a:bodyPr>
          <a:lstStyle/>
          <a:p>
            <a:pPr>
              <a:spcBef>
                <a:spcPts val="0"/>
              </a:spcBef>
              <a:spcAft>
                <a:spcPts val="400"/>
              </a:spcAft>
              <a:defRPr sz="2500" b="0">
                <a:solidFill>
                  <a:srgbClr val="18343B"/>
                </a:solidFill>
                <a:latin typeface="Aptos"/>
              </a:defRPr>
            </a:pPr>
            <a:r>
              <a:t>Distance to origin: 0.003985</a:t>
            </a:r>
          </a:p>
        </p:txBody>
      </p:sp>
      <p:sp>
        <p:nvSpPr>
          <p:cNvPr id="15" name="TextBox 14"/>
          <p:cNvSpPr txBox="1"/>
          <p:nvPr/>
        </p:nvSpPr>
        <p:spPr>
          <a:xfrm>
            <a:off x="7818120" y="2606040"/>
            <a:ext cx="5852160" cy="777240"/>
          </a:xfrm>
          <a:prstGeom prst="rect">
            <a:avLst/>
          </a:prstGeom>
          <a:noFill/>
        </p:spPr>
        <p:txBody>
          <a:bodyPr wrap="square" lIns="0" tIns="0" rIns="0" bIns="0">
            <a:spAutoFit/>
          </a:bodyPr>
          <a:lstStyle/>
          <a:p>
            <a:pPr>
              <a:spcBef>
                <a:spcPts val="0"/>
              </a:spcBef>
              <a:spcAft>
                <a:spcPts val="400"/>
              </a:spcAft>
              <a:defRPr sz="4200" b="1">
                <a:solidFill>
                  <a:srgbClr val="0A7EA4"/>
                </a:solidFill>
                <a:latin typeface="Aptos Display"/>
              </a:defRPr>
            </a:pPr>
            <a:r>
              <a:t>99.79%</a:t>
            </a:r>
          </a:p>
        </p:txBody>
      </p:sp>
      <p:sp>
        <p:nvSpPr>
          <p:cNvPr id="16" name="TextBox 15"/>
          <p:cNvSpPr txBox="1"/>
          <p:nvPr/>
        </p:nvSpPr>
        <p:spPr>
          <a:xfrm>
            <a:off x="7818120" y="3438144"/>
            <a:ext cx="5852160" cy="548640"/>
          </a:xfrm>
          <a:prstGeom prst="rect">
            <a:avLst/>
          </a:prstGeom>
          <a:noFill/>
        </p:spPr>
        <p:txBody>
          <a:bodyPr wrap="square" lIns="0" tIns="0" rIns="0" bIns="0">
            <a:spAutoFit/>
          </a:bodyPr>
          <a:lstStyle/>
          <a:p>
            <a:pPr>
              <a:spcBef>
                <a:spcPts val="0"/>
              </a:spcBef>
              <a:spcAft>
                <a:spcPts val="400"/>
              </a:spcAft>
              <a:defRPr sz="2000" b="1">
                <a:solidFill>
                  <a:srgbClr val="18343B"/>
                </a:solidFill>
                <a:latin typeface="Aptos"/>
              </a:defRPr>
            </a:pPr>
            <a:r>
              <a:t>reduction from the initial best</a:t>
            </a:r>
          </a:p>
        </p:txBody>
      </p:sp>
      <p:sp>
        <p:nvSpPr>
          <p:cNvPr id="17" name="TextBox 16"/>
          <p:cNvSpPr txBox="1"/>
          <p:nvPr/>
        </p:nvSpPr>
        <p:spPr>
          <a:xfrm>
            <a:off x="7818120" y="4005072"/>
            <a:ext cx="5852160" cy="73152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5.447495 → 0.011695</a:t>
            </a:r>
          </a:p>
        </p:txBody>
      </p:sp>
      <p:sp>
        <p:nvSpPr>
          <p:cNvPr id="18" name="Rounded Rectangle 17"/>
          <p:cNvSpPr/>
          <p:nvPr/>
        </p:nvSpPr>
        <p:spPr>
          <a:xfrm>
            <a:off x="7543800" y="5394960"/>
            <a:ext cx="6492240" cy="1335024"/>
          </a:xfrm>
          <a:prstGeom prst="roundRect">
            <a:avLst>
              <a:gd name="adj" fmla="val 60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5650992"/>
            <a:ext cx="5852160" cy="777240"/>
          </a:xfrm>
          <a:prstGeom prst="rect">
            <a:avLst/>
          </a:prstGeom>
          <a:noFill/>
        </p:spPr>
        <p:txBody>
          <a:bodyPr wrap="square" lIns="0" tIns="0" rIns="0" bIns="0">
            <a:spAutoFit/>
          </a:bodyPr>
          <a:lstStyle/>
          <a:p>
            <a:pPr>
              <a:spcBef>
                <a:spcPts val="0"/>
              </a:spcBef>
              <a:spcAft>
                <a:spcPts val="400"/>
              </a:spcAft>
              <a:defRPr sz="2700" b="1">
                <a:solidFill>
                  <a:srgbClr val="0A7EA4"/>
                </a:solidFill>
                <a:latin typeface="Aptos"/>
              </a:defRPr>
            </a:pPr>
            <a:r>
              <a:t>Near the centre; still above 0.001.</a:t>
            </a:r>
          </a:p>
        </p:txBody>
      </p:sp>
      <p:sp>
        <p:nvSpPr>
          <p:cNvPr id="20" name="TextBox 19"/>
          <p:cNvSpPr txBox="1"/>
          <p:nvPr/>
        </p:nvSpPr>
        <p:spPr>
          <a:xfrm>
            <a:off x="777240" y="7022592"/>
            <a:ext cx="13167360" cy="411480"/>
          </a:xfrm>
          <a:prstGeom prst="rect">
            <a:avLst/>
          </a:prstGeom>
          <a:noFill/>
        </p:spPr>
        <p:txBody>
          <a:bodyPr wrap="square" lIns="0" tIns="0" rIns="0" bIns="0">
            <a:spAutoFit/>
          </a:bodyPr>
          <a:lstStyle/>
          <a:p>
            <a:pPr>
              <a:spcBef>
                <a:spcPts val="0"/>
              </a:spcBef>
              <a:spcAft>
                <a:spcPts val="400"/>
              </a:spcAft>
              <a:defRPr sz="2200" b="0">
                <a:solidFill>
                  <a:srgbClr val="596B70"/>
                </a:solidFill>
                <a:latin typeface="Aptos"/>
              </a:defRPr>
            </a:pPr>
            <a:r>
              <a:t>The known answer is (0, 0), with f = 0.</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RESULTS · INTERPRETATION</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Why did the run stop short of zero?</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The final point is good, but the operators make very fine improvement increasingly unlikely.</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24</a:t>
            </a:r>
          </a:p>
        </p:txBody>
      </p:sp>
      <p:sp>
        <p:nvSpPr>
          <p:cNvPr id="10" name="Rounded Rectangle 9"/>
          <p:cNvSpPr/>
          <p:nvPr/>
        </p:nvSpPr>
        <p:spPr>
          <a:xfrm>
            <a:off x="594360" y="2286000"/>
            <a:ext cx="4297680" cy="28803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gene-swap" descr="icon_gene-swa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487168"/>
            <a:ext cx="594360" cy="594360"/>
          </a:xfrm>
          <a:prstGeom prst="rect">
            <a:avLst/>
          </a:prstGeom>
        </p:spPr>
      </p:pic>
      <p:sp>
        <p:nvSpPr>
          <p:cNvPr id="12" name="TextBox 11"/>
          <p:cNvSpPr txBox="1"/>
          <p:nvPr/>
        </p:nvSpPr>
        <p:spPr>
          <a:xfrm>
            <a:off x="804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Limited recombination</a:t>
            </a:r>
          </a:p>
        </p:txBody>
      </p:sp>
      <p:sp>
        <p:nvSpPr>
          <p:cNvPr id="13" name="TextBox 12"/>
          <p:cNvSpPr txBox="1"/>
          <p:nvPr/>
        </p:nvSpPr>
        <p:spPr>
          <a:xfrm>
            <a:off x="804672" y="3648456"/>
            <a:ext cx="3877056" cy="150876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One-point crossover can only reuse existing coordinates.</a:t>
            </a:r>
          </a:p>
        </p:txBody>
      </p:sp>
      <p:sp>
        <p:nvSpPr>
          <p:cNvPr id="14" name="Rounded Rectangle 13"/>
          <p:cNvSpPr/>
          <p:nvPr/>
        </p:nvSpPr>
        <p:spPr>
          <a:xfrm>
            <a:off x="5166360" y="2286000"/>
            <a:ext cx="4297680" cy="28803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mutation-sigma" descr="icon_mutation-sigma.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76672" y="2487168"/>
            <a:ext cx="594360" cy="594360"/>
          </a:xfrm>
          <a:prstGeom prst="rect">
            <a:avLst/>
          </a:prstGeom>
        </p:spPr>
      </p:pic>
      <p:sp>
        <p:nvSpPr>
          <p:cNvPr id="16" name="TextBox 15"/>
          <p:cNvSpPr txBox="1"/>
          <p:nvPr/>
        </p:nvSpPr>
        <p:spPr>
          <a:xfrm>
            <a:off x="5376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A fixed step size</a:t>
            </a:r>
          </a:p>
        </p:txBody>
      </p:sp>
      <p:sp>
        <p:nvSpPr>
          <p:cNvPr id="17" name="TextBox 16"/>
          <p:cNvSpPr txBox="1"/>
          <p:nvPr/>
        </p:nvSpPr>
        <p:spPr>
          <a:xfrm>
            <a:off x="5376672" y="3648456"/>
            <a:ext cx="3877056" cy="150876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σ = 1 is large compared with the final ≈0.004 distance.</a:t>
            </a:r>
          </a:p>
        </p:txBody>
      </p:sp>
      <p:sp>
        <p:nvSpPr>
          <p:cNvPr id="18" name="Rounded Rectangle 17"/>
          <p:cNvSpPr/>
          <p:nvPr/>
        </p:nvSpPr>
        <p:spPr>
          <a:xfrm>
            <a:off x="9738360" y="2286000"/>
            <a:ext cx="4297680" cy="28803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max-generations" descr="icon_max-generations.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48672" y="2487168"/>
            <a:ext cx="594360" cy="594360"/>
          </a:xfrm>
          <a:prstGeom prst="rect">
            <a:avLst/>
          </a:prstGeom>
        </p:spPr>
      </p:pic>
      <p:sp>
        <p:nvSpPr>
          <p:cNvPr id="20" name="TextBox 19"/>
          <p:cNvSpPr txBox="1"/>
          <p:nvPr/>
        </p:nvSpPr>
        <p:spPr>
          <a:xfrm>
            <a:off x="9948672" y="3200400"/>
            <a:ext cx="3877056" cy="365760"/>
          </a:xfrm>
          <a:prstGeom prst="rect">
            <a:avLst/>
          </a:prstGeom>
          <a:noFill/>
        </p:spPr>
        <p:txBody>
          <a:bodyPr wrap="square" lIns="0" tIns="0" rIns="0" bIns="0">
            <a:spAutoFit/>
          </a:bodyPr>
          <a:lstStyle/>
          <a:p>
            <a:pPr>
              <a:spcBef>
                <a:spcPts val="0"/>
              </a:spcBef>
              <a:spcAft>
                <a:spcPts val="400"/>
              </a:spcAft>
              <a:defRPr sz="2400" b="1">
                <a:solidFill>
                  <a:srgbClr val="18343B"/>
                </a:solidFill>
                <a:latin typeface="Aptos"/>
              </a:defRPr>
            </a:pPr>
            <a:r>
              <a:t>A finite search budget</a:t>
            </a:r>
          </a:p>
        </p:txBody>
      </p:sp>
      <p:sp>
        <p:nvSpPr>
          <p:cNvPr id="21" name="TextBox 20"/>
          <p:cNvSpPr txBox="1"/>
          <p:nvPr/>
        </p:nvSpPr>
        <p:spPr>
          <a:xfrm>
            <a:off x="9948672" y="3648456"/>
            <a:ext cx="3877056" cy="1508760"/>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No better candidate appears after generation 77.</a:t>
            </a:r>
          </a:p>
        </p:txBody>
      </p:sp>
      <p:sp>
        <p:nvSpPr>
          <p:cNvPr id="22" name="Rounded Rectangle 21"/>
          <p:cNvSpPr/>
          <p:nvPr/>
        </p:nvSpPr>
        <p:spPr>
          <a:xfrm>
            <a:off x="594360" y="5715000"/>
            <a:ext cx="13441680" cy="1426464"/>
          </a:xfrm>
          <a:prstGeom prst="roundRect">
            <a:avLst>
              <a:gd name="adj" fmla="val 5500"/>
            </a:avLst>
          </a:prstGeom>
          <a:solidFill>
            <a:srgbClr val="E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5971032"/>
            <a:ext cx="4572000" cy="457200"/>
          </a:xfrm>
          <a:prstGeom prst="rect">
            <a:avLst/>
          </a:prstGeom>
          <a:noFill/>
        </p:spPr>
        <p:txBody>
          <a:bodyPr wrap="square" lIns="0" tIns="0" rIns="0" bIns="0">
            <a:spAutoFit/>
          </a:bodyPr>
          <a:lstStyle/>
          <a:p>
            <a:pPr>
              <a:spcBef>
                <a:spcPts val="0"/>
              </a:spcBef>
              <a:spcAft>
                <a:spcPts val="400"/>
              </a:spcAft>
              <a:defRPr sz="2500" b="1">
                <a:solidFill>
                  <a:srgbClr val="0A7EA4"/>
                </a:solidFill>
                <a:latin typeface="Aptos"/>
              </a:defRPr>
            </a:pPr>
            <a:r>
              <a:t>A useful next experiment</a:t>
            </a:r>
          </a:p>
        </p:txBody>
      </p:sp>
      <p:sp>
        <p:nvSpPr>
          <p:cNvPr id="24" name="TextBox 23"/>
          <p:cNvSpPr txBox="1"/>
          <p:nvPr/>
        </p:nvSpPr>
        <p:spPr>
          <a:xfrm>
            <a:off x="5486400" y="6007608"/>
            <a:ext cx="8183879" cy="731520"/>
          </a:xfrm>
          <a:prstGeom prst="rect">
            <a:avLst/>
          </a:prstGeom>
          <a:noFill/>
        </p:spPr>
        <p:txBody>
          <a:bodyPr wrap="square" lIns="0" tIns="0" rIns="0" bIns="0">
            <a:spAutoFit/>
          </a:bodyPr>
          <a:lstStyle/>
          <a:p>
            <a:pPr>
              <a:spcBef>
                <a:spcPts val="0"/>
              </a:spcBef>
              <a:spcAft>
                <a:spcPts val="400"/>
              </a:spcAft>
              <a:defRPr sz="2400" b="0">
                <a:solidFill>
                  <a:srgbClr val="18343B"/>
                </a:solidFill>
                <a:latin typeface="Aptos"/>
              </a:defRPr>
            </a:pPr>
            <a:r>
              <a:t>Reduce σ later in the run, then test across many seeds.</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CONCLUSION</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The GA found the right basin—and exposed its limits</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A visual run makes both the progress and the remaining gap explainable.</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25</a:t>
            </a:r>
          </a:p>
        </p:txBody>
      </p:sp>
      <p:sp>
        <p:nvSpPr>
          <p:cNvPr id="10" name="Oval 9"/>
          <p:cNvSpPr/>
          <p:nvPr/>
        </p:nvSpPr>
        <p:spPr>
          <a:xfrm>
            <a:off x="777240" y="2286000"/>
            <a:ext cx="731520" cy="731520"/>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2468880"/>
            <a:ext cx="704088" cy="365760"/>
          </a:xfrm>
          <a:prstGeom prst="rect">
            <a:avLst/>
          </a:prstGeom>
          <a:noFill/>
        </p:spPr>
        <p:txBody>
          <a:bodyPr wrap="square" lIns="0" tIns="0" rIns="0" bIns="0">
            <a:spAutoFit/>
          </a:bodyPr>
          <a:lstStyle/>
          <a:p>
            <a:pPr algn="ctr">
              <a:spcBef>
                <a:spcPts val="0"/>
              </a:spcBef>
              <a:spcAft>
                <a:spcPts val="400"/>
              </a:spcAft>
              <a:defRPr sz="2400" b="1">
                <a:solidFill>
                  <a:srgbClr val="FFFFFF"/>
                </a:solidFill>
                <a:latin typeface="Aptos"/>
              </a:defRPr>
            </a:pPr>
            <a:r>
              <a:t>01</a:t>
            </a:r>
          </a:p>
        </p:txBody>
      </p:sp>
      <p:sp>
        <p:nvSpPr>
          <p:cNvPr id="12" name="anim_1_title"/>
          <p:cNvSpPr txBox="1"/>
          <p:nvPr/>
        </p:nvSpPr>
        <p:spPr>
          <a:xfrm>
            <a:off x="1847088" y="2286000"/>
            <a:ext cx="11338560" cy="457200"/>
          </a:xfrm>
          <a:prstGeom prst="rect">
            <a:avLst/>
          </a:prstGeom>
          <a:noFill/>
        </p:spPr>
        <p:txBody>
          <a:bodyPr wrap="square" lIns="0" tIns="0" rIns="0" bIns="0">
            <a:spAutoFit/>
          </a:bodyPr>
          <a:lstStyle/>
          <a:p>
            <a:pPr>
              <a:spcBef>
                <a:spcPts val="0"/>
              </a:spcBef>
              <a:spcAft>
                <a:spcPts val="400"/>
              </a:spcAft>
              <a:defRPr sz="2900" b="1">
                <a:solidFill>
                  <a:srgbClr val="18343B"/>
                </a:solidFill>
                <a:latin typeface="Aptos"/>
              </a:defRPr>
            </a:pPr>
            <a:r>
              <a:t>Selection directs the search</a:t>
            </a:r>
          </a:p>
        </p:txBody>
      </p:sp>
      <p:sp>
        <p:nvSpPr>
          <p:cNvPr id="13" name="anim_1_body"/>
          <p:cNvSpPr txBox="1"/>
          <p:nvPr/>
        </p:nvSpPr>
        <p:spPr>
          <a:xfrm>
            <a:off x="1847088" y="2880360"/>
            <a:ext cx="11338560" cy="548640"/>
          </a:xfrm>
          <a:prstGeom prst="rect">
            <a:avLst/>
          </a:prstGeom>
          <a:noFill/>
        </p:spPr>
        <p:txBody>
          <a:bodyPr wrap="square" lIns="0" tIns="0" rIns="0" bIns="0">
            <a:spAutoFit/>
          </a:bodyPr>
          <a:lstStyle/>
          <a:p>
            <a:pPr>
              <a:spcBef>
                <a:spcPts val="0"/>
              </a:spcBef>
              <a:spcAft>
                <a:spcPts val="400"/>
              </a:spcAft>
              <a:defRPr sz="2300" b="0">
                <a:solidFill>
                  <a:srgbClr val="596B70"/>
                </a:solidFill>
                <a:latin typeface="Aptos"/>
              </a:defRPr>
            </a:pPr>
            <a:r>
              <a:t>Fitter candidates receive more opportunities.</a:t>
            </a:r>
          </a:p>
        </p:txBody>
      </p:sp>
      <p:sp>
        <p:nvSpPr>
          <p:cNvPr id="14" name="Oval 13"/>
          <p:cNvSpPr/>
          <p:nvPr/>
        </p:nvSpPr>
        <p:spPr>
          <a:xfrm>
            <a:off x="777240" y="3721608"/>
            <a:ext cx="731520" cy="731520"/>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3904488"/>
            <a:ext cx="704088" cy="365760"/>
          </a:xfrm>
          <a:prstGeom prst="rect">
            <a:avLst/>
          </a:prstGeom>
          <a:noFill/>
        </p:spPr>
        <p:txBody>
          <a:bodyPr wrap="square" lIns="0" tIns="0" rIns="0" bIns="0">
            <a:spAutoFit/>
          </a:bodyPr>
          <a:lstStyle/>
          <a:p>
            <a:pPr algn="ctr">
              <a:spcBef>
                <a:spcPts val="0"/>
              </a:spcBef>
              <a:spcAft>
                <a:spcPts val="400"/>
              </a:spcAft>
              <a:defRPr sz="2400" b="1">
                <a:solidFill>
                  <a:srgbClr val="FFFFFF"/>
                </a:solidFill>
                <a:latin typeface="Aptos"/>
              </a:defRPr>
            </a:pPr>
            <a:r>
              <a:t>02</a:t>
            </a:r>
          </a:p>
        </p:txBody>
      </p:sp>
      <p:sp>
        <p:nvSpPr>
          <p:cNvPr id="16" name="anim_2_title"/>
          <p:cNvSpPr txBox="1"/>
          <p:nvPr/>
        </p:nvSpPr>
        <p:spPr>
          <a:xfrm>
            <a:off x="1847088" y="3721608"/>
            <a:ext cx="11338560" cy="457200"/>
          </a:xfrm>
          <a:prstGeom prst="rect">
            <a:avLst/>
          </a:prstGeom>
          <a:noFill/>
        </p:spPr>
        <p:txBody>
          <a:bodyPr wrap="square" lIns="0" tIns="0" rIns="0" bIns="0">
            <a:spAutoFit/>
          </a:bodyPr>
          <a:lstStyle/>
          <a:p>
            <a:pPr>
              <a:spcBef>
                <a:spcPts val="0"/>
              </a:spcBef>
              <a:spcAft>
                <a:spcPts val="400"/>
              </a:spcAft>
              <a:defRPr sz="2900" b="1">
                <a:solidFill>
                  <a:srgbClr val="18343B"/>
                </a:solidFill>
                <a:latin typeface="Aptos"/>
              </a:defRPr>
            </a:pPr>
            <a:r>
              <a:t>Variation explores; elitism protects</a:t>
            </a:r>
          </a:p>
        </p:txBody>
      </p:sp>
      <p:sp>
        <p:nvSpPr>
          <p:cNvPr id="17" name="anim_2_body"/>
          <p:cNvSpPr txBox="1"/>
          <p:nvPr/>
        </p:nvSpPr>
        <p:spPr>
          <a:xfrm>
            <a:off x="1847088" y="4315968"/>
            <a:ext cx="11338560" cy="548640"/>
          </a:xfrm>
          <a:prstGeom prst="rect">
            <a:avLst/>
          </a:prstGeom>
          <a:noFill/>
        </p:spPr>
        <p:txBody>
          <a:bodyPr wrap="square" lIns="0" tIns="0" rIns="0" bIns="0">
            <a:spAutoFit/>
          </a:bodyPr>
          <a:lstStyle/>
          <a:p>
            <a:pPr>
              <a:spcBef>
                <a:spcPts val="0"/>
              </a:spcBef>
              <a:spcAft>
                <a:spcPts val="400"/>
              </a:spcAft>
              <a:defRPr sz="2300" b="0">
                <a:solidFill>
                  <a:srgbClr val="596B70"/>
                </a:solidFill>
                <a:latin typeface="Aptos"/>
              </a:defRPr>
            </a:pPr>
            <a:r>
              <a:t>Average quality can fall while the best is preserved.</a:t>
            </a:r>
          </a:p>
        </p:txBody>
      </p:sp>
      <p:sp>
        <p:nvSpPr>
          <p:cNvPr id="18" name="Oval 17"/>
          <p:cNvSpPr/>
          <p:nvPr/>
        </p:nvSpPr>
        <p:spPr>
          <a:xfrm>
            <a:off x="777240" y="5157216"/>
            <a:ext cx="731520" cy="731520"/>
          </a:xfrm>
          <a:prstGeom prst="ellipse">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 y="5340096"/>
            <a:ext cx="704088" cy="365760"/>
          </a:xfrm>
          <a:prstGeom prst="rect">
            <a:avLst/>
          </a:prstGeom>
          <a:noFill/>
        </p:spPr>
        <p:txBody>
          <a:bodyPr wrap="square" lIns="0" tIns="0" rIns="0" bIns="0">
            <a:spAutoFit/>
          </a:bodyPr>
          <a:lstStyle/>
          <a:p>
            <a:pPr algn="ctr">
              <a:spcBef>
                <a:spcPts val="0"/>
              </a:spcBef>
              <a:spcAft>
                <a:spcPts val="400"/>
              </a:spcAft>
              <a:defRPr sz="2400" b="1">
                <a:solidFill>
                  <a:srgbClr val="FFFFFF"/>
                </a:solidFill>
                <a:latin typeface="Aptos"/>
              </a:defRPr>
            </a:pPr>
            <a:r>
              <a:t>03</a:t>
            </a:r>
          </a:p>
        </p:txBody>
      </p:sp>
      <p:sp>
        <p:nvSpPr>
          <p:cNvPr id="20" name="anim_3_title"/>
          <p:cNvSpPr txBox="1"/>
          <p:nvPr/>
        </p:nvSpPr>
        <p:spPr>
          <a:xfrm>
            <a:off x="1847088" y="5157216"/>
            <a:ext cx="11338560" cy="457200"/>
          </a:xfrm>
          <a:prstGeom prst="rect">
            <a:avLst/>
          </a:prstGeom>
          <a:noFill/>
        </p:spPr>
        <p:txBody>
          <a:bodyPr wrap="square" lIns="0" tIns="0" rIns="0" bIns="0">
            <a:spAutoFit/>
          </a:bodyPr>
          <a:lstStyle/>
          <a:p>
            <a:pPr>
              <a:spcBef>
                <a:spcPts val="0"/>
              </a:spcBef>
              <a:spcAft>
                <a:spcPts val="400"/>
              </a:spcAft>
              <a:defRPr sz="2900" b="1">
                <a:solidFill>
                  <a:srgbClr val="18343B"/>
                </a:solidFill>
                <a:latin typeface="Aptos"/>
              </a:defRPr>
            </a:pPr>
            <a:r>
              <a:t>Tuning needs repeated evidence</a:t>
            </a:r>
          </a:p>
        </p:txBody>
      </p:sp>
      <p:sp>
        <p:nvSpPr>
          <p:cNvPr id="21" name="anim_3_body"/>
          <p:cNvSpPr txBox="1"/>
          <p:nvPr/>
        </p:nvSpPr>
        <p:spPr>
          <a:xfrm>
            <a:off x="1847088" y="5751576"/>
            <a:ext cx="11338560" cy="548640"/>
          </a:xfrm>
          <a:prstGeom prst="rect">
            <a:avLst/>
          </a:prstGeom>
          <a:noFill/>
        </p:spPr>
        <p:txBody>
          <a:bodyPr wrap="square" lIns="0" tIns="0" rIns="0" bIns="0">
            <a:spAutoFit/>
          </a:bodyPr>
          <a:lstStyle/>
          <a:p>
            <a:pPr>
              <a:spcBef>
                <a:spcPts val="0"/>
              </a:spcBef>
              <a:spcAft>
                <a:spcPts val="400"/>
              </a:spcAft>
              <a:defRPr sz="2300" b="0">
                <a:solidFill>
                  <a:srgbClr val="596B70"/>
                </a:solidFill>
                <a:latin typeface="Aptos"/>
              </a:defRPr>
            </a:pPr>
            <a:r>
              <a:t>Check typical quality, poor runs, and evaluation cost.</a:t>
            </a:r>
          </a:p>
        </p:txBody>
      </p:sp>
      <p:sp>
        <p:nvSpPr>
          <p:cNvPr id="22" name="Rounded Rectangle 21"/>
          <p:cNvSpPr/>
          <p:nvPr/>
        </p:nvSpPr>
        <p:spPr>
          <a:xfrm>
            <a:off x="777240" y="6912864"/>
            <a:ext cx="3840480" cy="384048"/>
          </a:xfrm>
          <a:prstGeom prst="roundRect">
            <a:avLst>
              <a:gd name="adj" fmla="val 20000"/>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6972300"/>
            <a:ext cx="3657600" cy="274320"/>
          </a:xfrm>
          <a:prstGeom prst="rect">
            <a:avLst/>
          </a:prstGeom>
          <a:noFill/>
        </p:spPr>
        <p:txBody>
          <a:bodyPr wrap="square" lIns="0" tIns="0" rIns="0" bIns="0">
            <a:spAutoFit/>
          </a:bodyPr>
          <a:lstStyle/>
          <a:p>
            <a:pPr algn="ctr">
              <a:spcBef>
                <a:spcPts val="0"/>
              </a:spcBef>
              <a:spcAft>
                <a:spcPts val="400"/>
              </a:spcAft>
              <a:defRPr sz="1400" b="1">
                <a:solidFill>
                  <a:srgbClr val="FFFFFF"/>
                </a:solidFill>
                <a:latin typeface="Aptos"/>
              </a:defRPr>
            </a:pPr>
            <a:r>
              <a:t>FINAL BEST  0.011695</a:t>
            </a:r>
          </a:p>
        </p:txBody>
      </p:sp>
      <p:sp>
        <p:nvSpPr>
          <p:cNvPr id="24" name="TextBox 23"/>
          <p:cNvSpPr txBox="1"/>
          <p:nvPr/>
        </p:nvSpPr>
        <p:spPr>
          <a:xfrm>
            <a:off x="4937760" y="6922008"/>
            <a:ext cx="8869680" cy="45720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Near the optimum; further precision needs better search control.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3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17" grpId="0"/>
      <p:bldP spid="20"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Rectangle 1"/>
          <p:cNvSpPr/>
          <p:nvPr/>
        </p:nvSpPr>
        <p:spPr>
          <a:xfrm>
            <a:off x="594360" y="384048"/>
            <a:ext cx="365760" cy="54864"/>
          </a:xfrm>
          <a:prstGeom prst="rect">
            <a:avLst/>
          </a:prstGeom>
          <a:solidFill>
            <a:srgbClr val="0A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74320"/>
            <a:ext cx="10972800" cy="274320"/>
          </a:xfrm>
          <a:prstGeom prst="rect">
            <a:avLst/>
          </a:prstGeom>
          <a:noFill/>
        </p:spPr>
        <p:txBody>
          <a:bodyPr wrap="square" lIns="0" tIns="0" rIns="0" bIns="0">
            <a:spAutoFit/>
          </a:bodyPr>
          <a:lstStyle/>
          <a:p>
            <a:pPr>
              <a:spcBef>
                <a:spcPts val="0"/>
              </a:spcBef>
              <a:spcAft>
                <a:spcPts val="400"/>
              </a:spcAft>
              <a:defRPr sz="1400" b="1">
                <a:solidFill>
                  <a:srgbClr val="0A7EA4"/>
                </a:solidFill>
                <a:latin typeface="Aptos"/>
              </a:defRPr>
            </a:pPr>
            <a:r>
              <a:t>REFERENCE</a:t>
            </a:r>
          </a:p>
        </p:txBody>
      </p:sp>
      <p:sp>
        <p:nvSpPr>
          <p:cNvPr id="4" name="TextBox 3"/>
          <p:cNvSpPr txBox="1"/>
          <p:nvPr/>
        </p:nvSpPr>
        <p:spPr>
          <a:xfrm>
            <a:off x="594360" y="777240"/>
            <a:ext cx="13533120" cy="731520"/>
          </a:xfrm>
          <a:prstGeom prst="rect">
            <a:avLst/>
          </a:prstGeom>
          <a:noFill/>
        </p:spPr>
        <p:txBody>
          <a:bodyPr wrap="square" lIns="0" tIns="0" rIns="0" bIns="0">
            <a:spAutoFit/>
          </a:bodyPr>
          <a:lstStyle/>
          <a:p>
            <a:pPr>
              <a:spcBef>
                <a:spcPts val="0"/>
              </a:spcBef>
              <a:spcAft>
                <a:spcPts val="400"/>
              </a:spcAft>
              <a:defRPr sz="3600" b="1">
                <a:solidFill>
                  <a:srgbClr val="18343B"/>
                </a:solidFill>
                <a:latin typeface="Aptos Display"/>
              </a:defRPr>
            </a:pPr>
            <a:r>
              <a:t>References and reproducibility</a:t>
            </a:r>
          </a:p>
        </p:txBody>
      </p:sp>
      <p:sp>
        <p:nvSpPr>
          <p:cNvPr id="5" name="TextBox 4"/>
          <p:cNvSpPr txBox="1"/>
          <p:nvPr/>
        </p:nvSpPr>
        <p:spPr>
          <a:xfrm>
            <a:off x="621792" y="1527048"/>
            <a:ext cx="13258800" cy="475488"/>
          </a:xfrm>
          <a:prstGeom prst="rect">
            <a:avLst/>
          </a:prstGeom>
          <a:noFill/>
        </p:spPr>
        <p:txBody>
          <a:bodyPr wrap="square" lIns="0" tIns="0" rIns="0" bIns="0">
            <a:spAutoFit/>
          </a:bodyPr>
          <a:lstStyle/>
          <a:p>
            <a:pPr>
              <a:spcBef>
                <a:spcPts val="0"/>
              </a:spcBef>
              <a:spcAft>
                <a:spcPts val="400"/>
              </a:spcAft>
              <a:defRPr sz="1800" b="0">
                <a:solidFill>
                  <a:srgbClr val="596B70"/>
                </a:solidFill>
                <a:latin typeface="Aptos"/>
              </a:defRPr>
            </a:pPr>
            <a:r>
              <a:t>Primary sources, local implementation, and the evidence used in this presentation</a:t>
            </a:r>
          </a:p>
        </p:txBody>
      </p:sp>
      <p:cxnSp>
        <p:nvCxnSpPr>
          <p:cNvPr id="6" name="Connector 5"/>
          <p:cNvCxnSpPr/>
          <p:nvPr/>
        </p:nvCxnSpPr>
        <p:spPr>
          <a:xfrm>
            <a:off x="594360" y="7735824"/>
            <a:ext cx="1344168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82127"/>
            <a:ext cx="6400800" cy="22860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2D ACKLEY  /  GENETIC ALGORITHM</a:t>
            </a:r>
          </a:p>
        </p:txBody>
      </p:sp>
      <p:sp>
        <p:nvSpPr>
          <p:cNvPr id="8" name="TextBox 7"/>
          <p:cNvSpPr txBox="1"/>
          <p:nvPr/>
        </p:nvSpPr>
        <p:spPr>
          <a:xfrm>
            <a:off x="9418320" y="7882127"/>
            <a:ext cx="3291840" cy="228600"/>
          </a:xfrm>
          <a:prstGeom prst="rect">
            <a:avLst/>
          </a:prstGeom>
          <a:noFill/>
        </p:spPr>
        <p:txBody>
          <a:bodyPr wrap="square" lIns="0" tIns="0" rIns="0" bIns="0">
            <a:spAutoFit/>
          </a:bodyPr>
          <a:lstStyle/>
          <a:p>
            <a:pPr algn="r">
              <a:spcBef>
                <a:spcPts val="0"/>
              </a:spcBef>
              <a:spcAft>
                <a:spcPts val="400"/>
              </a:spcAft>
              <a:defRPr sz="1400" b="0">
                <a:solidFill>
                  <a:srgbClr val="596B70"/>
                </a:solidFill>
                <a:latin typeface="Aptos"/>
              </a:defRPr>
            </a:pPr>
            <a:r>
              <a:t>12 September 2026</a:t>
            </a:r>
          </a:p>
        </p:txBody>
      </p:sp>
      <p:sp>
        <p:nvSpPr>
          <p:cNvPr id="9" name="TextBox 8"/>
          <p:cNvSpPr txBox="1"/>
          <p:nvPr/>
        </p:nvSpPr>
        <p:spPr>
          <a:xfrm>
            <a:off x="13304520" y="7845552"/>
            <a:ext cx="731520" cy="320040"/>
          </a:xfrm>
          <a:prstGeom prst="rect">
            <a:avLst/>
          </a:prstGeom>
          <a:noFill/>
        </p:spPr>
        <p:txBody>
          <a:bodyPr wrap="square" lIns="0" tIns="0" rIns="0" bIns="0">
            <a:spAutoFit/>
          </a:bodyPr>
          <a:lstStyle/>
          <a:p>
            <a:pPr algn="r">
              <a:spcBef>
                <a:spcPts val="0"/>
              </a:spcBef>
              <a:spcAft>
                <a:spcPts val="400"/>
              </a:spcAft>
              <a:defRPr sz="1800" b="1">
                <a:solidFill>
                  <a:srgbClr val="0A7EA4"/>
                </a:solidFill>
                <a:latin typeface="Aptos"/>
              </a:defRPr>
            </a:pPr>
            <a:r>
              <a:t>26</a:t>
            </a:r>
          </a:p>
        </p:txBody>
      </p:sp>
      <p:sp>
        <p:nvSpPr>
          <p:cNvPr id="10" name="TextBox 9"/>
          <p:cNvSpPr txBox="1"/>
          <p:nvPr/>
        </p:nvSpPr>
        <p:spPr>
          <a:xfrm>
            <a:off x="731520" y="2194560"/>
            <a:ext cx="4800600" cy="36576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01  Project implementation</a:t>
            </a:r>
          </a:p>
        </p:txBody>
      </p:sp>
      <p:sp>
        <p:nvSpPr>
          <p:cNvPr id="11" name="TextBox 10"/>
          <p:cNvSpPr txBox="1"/>
          <p:nvPr/>
        </p:nvSpPr>
        <p:spPr>
          <a:xfrm>
            <a:off x="5760720" y="2194560"/>
            <a:ext cx="7955279" cy="347472"/>
          </a:xfrm>
          <a:prstGeom prst="rect">
            <a:avLst/>
          </a:prstGeom>
          <a:noFill/>
        </p:spPr>
        <p:txBody>
          <a:bodyPr wrap="square" lIns="0" tIns="0" rIns="0" bIns="0">
            <a:spAutoFit/>
          </a:bodyPr>
          <a:lstStyle/>
          <a:p>
            <a:pPr>
              <a:spcBef>
                <a:spcPts val="0"/>
              </a:spcBef>
              <a:spcAft>
                <a:spcPts val="400"/>
              </a:spcAft>
              <a:defRPr sz="1900" b="1">
                <a:solidFill>
                  <a:srgbClr val="18343B"/>
                </a:solidFill>
                <a:latin typeface="Aptos"/>
              </a:defRPr>
            </a:pPr>
            <a:r>
              <a:t>ga_ackley.py; ga-web/engine.py; ga-web/static/</a:t>
            </a:r>
          </a:p>
        </p:txBody>
      </p:sp>
      <p:sp>
        <p:nvSpPr>
          <p:cNvPr id="12" name="TextBox 11"/>
          <p:cNvSpPr txBox="1"/>
          <p:nvPr/>
        </p:nvSpPr>
        <p:spPr>
          <a:xfrm>
            <a:off x="5760720" y="2615184"/>
            <a:ext cx="7955279" cy="429768"/>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Exact operators, parameters, stage traces, and white-mode captures.</a:t>
            </a:r>
          </a:p>
        </p:txBody>
      </p:sp>
      <p:cxnSp>
        <p:nvCxnSpPr>
          <p:cNvPr id="13" name="Connector 12"/>
          <p:cNvCxnSpPr/>
          <p:nvPr/>
        </p:nvCxnSpPr>
        <p:spPr>
          <a:xfrm>
            <a:off x="731520" y="3072384"/>
            <a:ext cx="1303020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191256"/>
            <a:ext cx="4800600" cy="36576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02  Ackley benchmark</a:t>
            </a:r>
          </a:p>
        </p:txBody>
      </p:sp>
      <p:sp>
        <p:nvSpPr>
          <p:cNvPr id="15" name="TextBox 14"/>
          <p:cNvSpPr txBox="1"/>
          <p:nvPr/>
        </p:nvSpPr>
        <p:spPr>
          <a:xfrm>
            <a:off x="5760720" y="3191256"/>
            <a:ext cx="7955279" cy="347472"/>
          </a:xfrm>
          <a:prstGeom prst="rect">
            <a:avLst/>
          </a:prstGeom>
          <a:noFill/>
        </p:spPr>
        <p:txBody>
          <a:bodyPr wrap="square" lIns="0" tIns="0" rIns="0" bIns="0">
            <a:spAutoFit/>
          </a:bodyPr>
          <a:lstStyle/>
          <a:p>
            <a:pPr>
              <a:spcBef>
                <a:spcPts val="0"/>
              </a:spcBef>
              <a:spcAft>
                <a:spcPts val="400"/>
              </a:spcAft>
              <a:defRPr sz="1900" b="1">
                <a:solidFill>
                  <a:srgbClr val="18343B"/>
                </a:solidFill>
                <a:latin typeface="Aptos"/>
              </a:defRPr>
            </a:pPr>
            <a:r>
              <a:rPr>
                <a:hlinkClick r:id="rId3"/>
              </a:rPr>
              <a:t>Surjanovic &amp; Bingham · SFU Virtual Library</a:t>
            </a:r>
          </a:p>
        </p:txBody>
      </p:sp>
      <p:sp>
        <p:nvSpPr>
          <p:cNvPr id="16" name="TextBox 15"/>
          <p:cNvSpPr txBox="1"/>
          <p:nvPr/>
        </p:nvSpPr>
        <p:spPr>
          <a:xfrm>
            <a:off x="5760720" y="3611880"/>
            <a:ext cx="7955279" cy="429768"/>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Definition, landscape, recommended constants, and known optimum.</a:t>
            </a:r>
          </a:p>
        </p:txBody>
      </p:sp>
      <p:cxnSp>
        <p:nvCxnSpPr>
          <p:cNvPr id="17" name="Connector 16"/>
          <p:cNvCxnSpPr/>
          <p:nvPr/>
        </p:nvCxnSpPr>
        <p:spPr>
          <a:xfrm>
            <a:off x="731520" y="4069080"/>
            <a:ext cx="1303020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187952"/>
            <a:ext cx="4800600" cy="36576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03  Genetic algorithms</a:t>
            </a:r>
          </a:p>
        </p:txBody>
      </p:sp>
      <p:sp>
        <p:nvSpPr>
          <p:cNvPr id="19" name="TextBox 18"/>
          <p:cNvSpPr txBox="1"/>
          <p:nvPr/>
        </p:nvSpPr>
        <p:spPr>
          <a:xfrm>
            <a:off x="5760720" y="4187952"/>
            <a:ext cx="7955279" cy="347472"/>
          </a:xfrm>
          <a:prstGeom prst="rect">
            <a:avLst/>
          </a:prstGeom>
          <a:noFill/>
        </p:spPr>
        <p:txBody>
          <a:bodyPr wrap="square" lIns="0" tIns="0" rIns="0" bIns="0">
            <a:spAutoFit/>
          </a:bodyPr>
          <a:lstStyle/>
          <a:p>
            <a:pPr>
              <a:spcBef>
                <a:spcPts val="0"/>
              </a:spcBef>
              <a:spcAft>
                <a:spcPts val="400"/>
              </a:spcAft>
              <a:defRPr sz="1900" b="1">
                <a:solidFill>
                  <a:srgbClr val="18343B"/>
                </a:solidFill>
                <a:latin typeface="Aptos"/>
              </a:defRPr>
            </a:pPr>
            <a:r>
              <a:rPr>
                <a:hlinkClick r:id="rId4"/>
              </a:rPr>
              <a:t>John H. Holland · Adaptation in Natural and Artificial Systems</a:t>
            </a:r>
          </a:p>
        </p:txBody>
      </p:sp>
      <p:sp>
        <p:nvSpPr>
          <p:cNvPr id="20" name="TextBox 19"/>
          <p:cNvSpPr txBox="1"/>
          <p:nvPr/>
        </p:nvSpPr>
        <p:spPr>
          <a:xfrm>
            <a:off x="5760720" y="4608576"/>
            <a:ext cx="7955279" cy="429768"/>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MIT Press, 1992 edition; foundations of adaptation and genetic search.</a:t>
            </a:r>
          </a:p>
        </p:txBody>
      </p:sp>
      <p:cxnSp>
        <p:nvCxnSpPr>
          <p:cNvPr id="21" name="Connector 20"/>
          <p:cNvCxnSpPr/>
          <p:nvPr/>
        </p:nvCxnSpPr>
        <p:spPr>
          <a:xfrm>
            <a:off x="731520" y="5065776"/>
            <a:ext cx="1303020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5184648"/>
            <a:ext cx="4800600" cy="36576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04  Icons</a:t>
            </a:r>
          </a:p>
        </p:txBody>
      </p:sp>
      <p:sp>
        <p:nvSpPr>
          <p:cNvPr id="23" name="TextBox 22"/>
          <p:cNvSpPr txBox="1"/>
          <p:nvPr/>
        </p:nvSpPr>
        <p:spPr>
          <a:xfrm>
            <a:off x="5760720" y="5184648"/>
            <a:ext cx="7955279" cy="347472"/>
          </a:xfrm>
          <a:prstGeom prst="rect">
            <a:avLst/>
          </a:prstGeom>
          <a:noFill/>
        </p:spPr>
        <p:txBody>
          <a:bodyPr wrap="square" lIns="0" tIns="0" rIns="0" bIns="0">
            <a:spAutoFit/>
          </a:bodyPr>
          <a:lstStyle/>
          <a:p>
            <a:pPr>
              <a:spcBef>
                <a:spcPts val="0"/>
              </a:spcBef>
              <a:spcAft>
                <a:spcPts val="400"/>
              </a:spcAft>
              <a:defRPr sz="1900" b="1">
                <a:solidFill>
                  <a:srgbClr val="18343B"/>
                </a:solidFill>
                <a:latin typeface="Aptos"/>
              </a:defRPr>
            </a:pPr>
            <a:r>
              <a:rPr>
                <a:hlinkClick r:id="rId5"/>
              </a:rPr>
              <a:t>ByteDance IconPark + the supplied custom icons</a:t>
            </a:r>
          </a:p>
        </p:txBody>
      </p:sp>
      <p:sp>
        <p:nvSpPr>
          <p:cNvPr id="24" name="TextBox 23"/>
          <p:cNvSpPr txBox="1"/>
          <p:nvPr/>
        </p:nvSpPr>
        <p:spPr>
          <a:xfrm>
            <a:off x="5760720" y="5605272"/>
            <a:ext cx="7955279" cy="429768"/>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SVG assets from icons/; IconPark under Apache 2.0.</a:t>
            </a:r>
          </a:p>
        </p:txBody>
      </p:sp>
      <p:cxnSp>
        <p:nvCxnSpPr>
          <p:cNvPr id="25" name="Connector 24"/>
          <p:cNvCxnSpPr/>
          <p:nvPr/>
        </p:nvCxnSpPr>
        <p:spPr>
          <a:xfrm>
            <a:off x="731520" y="6062472"/>
            <a:ext cx="13030200" cy="0"/>
          </a:xfrm>
          <a:prstGeom prst="line">
            <a:avLst/>
          </a:prstGeom>
          <a:ln w="16510">
            <a:solidFill>
              <a:srgbClr val="D8DF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6181344"/>
            <a:ext cx="4800600" cy="365760"/>
          </a:xfrm>
          <a:prstGeom prst="rect">
            <a:avLst/>
          </a:prstGeom>
          <a:noFill/>
        </p:spPr>
        <p:txBody>
          <a:bodyPr wrap="square" lIns="0" tIns="0" rIns="0" bIns="0">
            <a:spAutoFit/>
          </a:bodyPr>
          <a:lstStyle/>
          <a:p>
            <a:pPr>
              <a:spcBef>
                <a:spcPts val="0"/>
              </a:spcBef>
              <a:spcAft>
                <a:spcPts val="400"/>
              </a:spcAft>
              <a:defRPr sz="2200" b="1">
                <a:solidFill>
                  <a:srgbClr val="0A7EA4"/>
                </a:solidFill>
                <a:latin typeface="Aptos"/>
              </a:defRPr>
            </a:pPr>
            <a:r>
              <a:t>05  Run evidence</a:t>
            </a:r>
          </a:p>
        </p:txBody>
      </p:sp>
      <p:sp>
        <p:nvSpPr>
          <p:cNvPr id="27" name="TextBox 26"/>
          <p:cNvSpPr txBox="1"/>
          <p:nvPr/>
        </p:nvSpPr>
        <p:spPr>
          <a:xfrm>
            <a:off x="5760720" y="6181344"/>
            <a:ext cx="7955279" cy="347472"/>
          </a:xfrm>
          <a:prstGeom prst="rect">
            <a:avLst/>
          </a:prstGeom>
          <a:noFill/>
        </p:spPr>
        <p:txBody>
          <a:bodyPr wrap="square" lIns="0" tIns="0" rIns="0" bIns="0">
            <a:spAutoFit/>
          </a:bodyPr>
          <a:lstStyle/>
          <a:p>
            <a:pPr>
              <a:spcBef>
                <a:spcPts val="0"/>
              </a:spcBef>
              <a:spcAft>
                <a:spcPts val="400"/>
              </a:spcAft>
              <a:defRPr sz="1900" b="1">
                <a:solidFill>
                  <a:srgbClr val="18343B"/>
                </a:solidFill>
                <a:latin typeface="Aptos"/>
              </a:defRPr>
            </a:pPr>
            <a:r>
              <a:t>presentation/data/run.json and summary.json</a:t>
            </a:r>
          </a:p>
        </p:txBody>
      </p:sp>
      <p:sp>
        <p:nvSpPr>
          <p:cNvPr id="28" name="TextBox 27"/>
          <p:cNvSpPr txBox="1"/>
          <p:nvPr/>
        </p:nvSpPr>
        <p:spPr>
          <a:xfrm>
            <a:off x="5760720" y="6601968"/>
            <a:ext cx="7955279" cy="429768"/>
          </a:xfrm>
          <a:prstGeom prst="rect">
            <a:avLst/>
          </a:prstGeom>
          <a:noFill/>
        </p:spPr>
        <p:txBody>
          <a:bodyPr wrap="square" lIns="0" tIns="0" rIns="0" bIns="0">
            <a:spAutoFit/>
          </a:bodyPr>
          <a:lstStyle/>
          <a:p>
            <a:pPr>
              <a:spcBef>
                <a:spcPts val="0"/>
              </a:spcBef>
              <a:spcAft>
                <a:spcPts val="400"/>
              </a:spcAft>
              <a:defRPr sz="1700" b="0">
                <a:solidFill>
                  <a:srgbClr val="596B70"/>
                </a:solidFill>
                <a:latin typeface="Aptos"/>
              </a:defRPr>
            </a:pPr>
            <a:r>
              <a:t>Seed-42 trace; 180 tuning runs; all 14 existing parity checks passed.</a:t>
            </a:r>
          </a:p>
        </p:txBody>
      </p:sp>
      <p:sp>
        <p:nvSpPr>
          <p:cNvPr id="29" name="TextBox 28"/>
          <p:cNvSpPr txBox="1"/>
          <p:nvPr/>
        </p:nvSpPr>
        <p:spPr>
          <a:xfrm>
            <a:off x="731520" y="7315200"/>
            <a:ext cx="13167360" cy="274320"/>
          </a:xfrm>
          <a:prstGeom prst="rect">
            <a:avLst/>
          </a:prstGeom>
          <a:noFill/>
        </p:spPr>
        <p:txBody>
          <a:bodyPr wrap="square" lIns="0" tIns="0" rIns="0" bIns="0">
            <a:spAutoFit/>
          </a:bodyPr>
          <a:lstStyle/>
          <a:p>
            <a:pPr>
              <a:spcBef>
                <a:spcPts val="0"/>
              </a:spcBef>
              <a:spcAft>
                <a:spcPts val="400"/>
              </a:spcAft>
              <a:defRPr sz="1400" b="0">
                <a:solidFill>
                  <a:srgbClr val="596B70"/>
                </a:solidFill>
                <a:latin typeface="Aptos"/>
              </a:defRPr>
            </a:pPr>
            <a:r>
              <a:t>Web sources accessed 12 September 2026 · full links and run details are also in speaker notes.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4860</Words>
  <Application>Microsoft Office PowerPoint</Application>
  <PresentationFormat>Custom</PresentationFormat>
  <Paragraphs>518</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Ackley Optimization with a Genetic Algorithm</dc:title>
  <dc:subject>White-theme visual project presentation, seed-42 run and parameter tuning</dc:subject>
  <dc:creator/>
  <cp:keywords>Ackley, genetic algorithm, roulette selection, crossover, mutation, elitism</cp:keywords>
  <dc:description>generated using python-pptx</dc:description>
  <cp:lastModifiedBy>Farhan Tahmid</cp:lastModifiedBy>
  <cp:revision>2</cp:revision>
  <dcterms:created xsi:type="dcterms:W3CDTF">2013-01-27T09:14:16Z</dcterms:created>
  <dcterms:modified xsi:type="dcterms:W3CDTF">2026-09-12T13:25:50Z</dcterms:modified>
  <cp:category/>
</cp:coreProperties>
</file>